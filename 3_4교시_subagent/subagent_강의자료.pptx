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8" r:id="rId3"/>
    <p:sldId id="260" r:id="rId4"/>
    <p:sldId id="261" r:id="rId5"/>
    <p:sldId id="262" r:id="rId6"/>
    <p:sldId id="263" r:id="rId7"/>
    <p:sldId id="306" r:id="rId8"/>
    <p:sldId id="305" r:id="rId9"/>
    <p:sldId id="266" r:id="rId10"/>
    <p:sldId id="267" r:id="rId11"/>
    <p:sldId id="268" r:id="rId12"/>
    <p:sldId id="307" r:id="rId13"/>
    <p:sldId id="270" r:id="rId14"/>
    <p:sldId id="271" r:id="rId15"/>
    <p:sldId id="308" r:id="rId16"/>
    <p:sldId id="257" r:id="rId17"/>
    <p:sldId id="309" r:id="rId18"/>
    <p:sldId id="272" r:id="rId19"/>
    <p:sldId id="274" r:id="rId20"/>
    <p:sldId id="275" r:id="rId21"/>
    <p:sldId id="277" r:id="rId22"/>
    <p:sldId id="278" r:id="rId23"/>
    <p:sldId id="310" r:id="rId24"/>
    <p:sldId id="311" r:id="rId25"/>
    <p:sldId id="312" r:id="rId26"/>
    <p:sldId id="281" r:id="rId27"/>
    <p:sldId id="315" r:id="rId28"/>
    <p:sldId id="282" r:id="rId29"/>
    <p:sldId id="283" r:id="rId30"/>
    <p:sldId id="284" r:id="rId31"/>
    <p:sldId id="313" r:id="rId32"/>
    <p:sldId id="314" r:id="rId33"/>
    <p:sldId id="316" r:id="rId34"/>
    <p:sldId id="288" r:id="rId35"/>
    <p:sldId id="317" r:id="rId36"/>
    <p:sldId id="318" r:id="rId37"/>
    <p:sldId id="321" r:id="rId38"/>
    <p:sldId id="323" r:id="rId39"/>
    <p:sldId id="326" r:id="rId40"/>
    <p:sldId id="269" r:id="rId41"/>
    <p:sldId id="327" r:id="rId42"/>
    <p:sldId id="334" r:id="rId43"/>
    <p:sldId id="329" r:id="rId44"/>
    <p:sldId id="273" r:id="rId45"/>
    <p:sldId id="336" r:id="rId46"/>
    <p:sldId id="331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9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4958E-B786-E98C-9A3D-3222AD60E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54DE0-2BD4-2A15-7C16-9B428955E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6B019-08A7-E140-2123-D285E8448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10481-CD87-BC56-1BFC-04E7D71C58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7587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57816-6201-A35E-4079-A882926B9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57C27-AB53-95A2-6BB2-82A153216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ACA19-88BD-4805-B25B-92E77A3A0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B7D0D-A089-55D4-BDA0-684021473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7840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4A28A-4D05-B95D-ECC7-F68354343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7B45C-0294-14C3-E8BE-AF1777707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8EDBE-3EBA-92F0-4E04-60E1920D5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1F7EE-A625-0DB7-B865-3FCB112E12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57151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3860-BD62-E29E-1518-66A663A1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5CAD0-B4D8-F21A-FE32-818424A48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22584-1382-7A22-211E-A8D810041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B55D4-BE3B-9F70-247C-21FDFEEADB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6837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FC294-2723-AA7A-BC52-763BCE3E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4CBAE3-1FDD-5B36-A331-CD19C1A2E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1060B-CDC1-F23D-CA1A-4FCB34BBA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C4048-FB40-1162-A331-52C86AFE3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2898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오늘 hook이 부른 검증 subagent 기억하시죠. 그건 한 세션 안의 하위 작업자였고, 결과를 메인에게 보고하고 끝났습니다. Agent Teams는 그 하위 작업자들을 각자 자기 세션을 가진 동료로 만든 겁니다. 서로 메시지를 주고받고, 공유 작업 목록에서 알아서 일을 집어가요. 대신 한 명당 컨텍스트가 하나라 토큰이 인원수만큼 곱해집니다. 2026년 2월에 나온 실험 기능이고 기본은 꺼져 있습니다. 오늘 실습 범위는 아니니 team lead, teammate 이 두 단어만 기억하세요.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201168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500" dirty="0" err="1">
                <a:solidFill>
                  <a:srgbClr val="ADA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</a:t>
            </a:r>
            <a:r>
              <a:rPr lang="en-US" sz="1500" b="1" kern="0" spc="500" dirty="0">
                <a:solidFill>
                  <a:srgbClr val="ADA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AGENT 만들기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20156" y="2697480"/>
            <a:ext cx="548640" cy="45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971800"/>
            <a:ext cx="12188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en-US" sz="40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lang="en-US" sz="4000" b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4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업무 </a:t>
            </a:r>
            <a:r>
              <a:rPr lang="en-US" sz="40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</a:t>
            </a:r>
            <a:r>
              <a:rPr lang="en-US" sz="40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Agent 팀 </a:t>
            </a:r>
            <a:r>
              <a:rPr lang="ko-KR" altLang="en-US" sz="40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50292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ORIENTATION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49424" y="649224"/>
            <a:ext cx="9116568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소개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" y="1627632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R&amp;D 보고서 </a:t>
            </a:r>
            <a:r>
              <a:rPr lang="en-US" sz="12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</a:t>
            </a:r>
            <a:r>
              <a:rPr 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</a:t>
            </a:r>
            <a:r>
              <a:rPr lang="ko-KR" alt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담당하는 각각의 </a:t>
            </a:r>
            <a:r>
              <a:rPr 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</a:t>
            </a:r>
            <a:r>
              <a:rPr lang="ko-KR" alt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</a:t>
            </a:r>
            <a:r>
              <a:rPr 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별</a:t>
            </a:r>
            <a:r>
              <a:rPr lang="ko-KR" alt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altLang="ko-KR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ko-KR" alt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만들고</a:t>
            </a:r>
            <a:r>
              <a:rPr lang="en-US" altLang="ko-KR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이를</a:t>
            </a:r>
            <a:r>
              <a:rPr 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팀으로</a:t>
            </a:r>
            <a:r>
              <a:rPr 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r>
              <a:rPr lang="ko-KR" alt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해서</a:t>
            </a:r>
            <a:r>
              <a:rPr 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r>
              <a:rPr lang="ko-KR" alt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</a:t>
            </a:r>
            <a:r>
              <a:rPr 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절차를</a:t>
            </a:r>
            <a:r>
              <a:rPr 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496312"/>
            <a:ext cx="3343656" cy="265176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660904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85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 실습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42416" y="2953512"/>
            <a:ext cx="290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subagent 만들기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42416" y="3456432"/>
            <a:ext cx="2904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문서요약 subagent 1개 </a:t>
            </a:r>
            <a:r>
              <a:rPr lang="en-US" sz="1200" dirty="0" err="1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제작·호출</a:t>
            </a:r>
            <a:r>
              <a:rPr 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22648" y="2496312"/>
            <a:ext cx="3343656" cy="265176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2104" y="2660904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85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 실습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42104" y="2953512"/>
            <a:ext cx="290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subagent 지휘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42104" y="3456432"/>
            <a:ext cx="3028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4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개로 구성한 팀</a:t>
            </a:r>
            <a:r>
              <a:rPr lang="en-US" sz="1200" dirty="0" err="1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r>
              <a:rPr 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보고서 교차검증 + 영문 브리핑.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22336" y="2496312"/>
            <a:ext cx="3343656" cy="265176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1792" y="2660904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85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 실습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41792" y="2953512"/>
            <a:ext cx="290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절차를 파일로 저장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41792" y="3456432"/>
            <a:ext cx="2904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검토의견서 skill과 번역·검수 CLAUDE.md.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820156" y="2514600"/>
            <a:ext cx="548640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743200"/>
            <a:ext cx="12188952" cy="177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6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요약하는 </a:t>
            </a:r>
            <a:r>
              <a:rPr lang="en-US" sz="36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subagent </a:t>
            </a:r>
            <a:r>
              <a:rPr lang="en-US" sz="36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</a:t>
            </a:r>
            <a:endParaRPr lang="en-US" sz="3600" b="1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240280" y="649224"/>
            <a:ext cx="9125712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교시 목표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22960" y="1856232"/>
            <a:ext cx="3343656" cy="20116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020824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2416" y="2313432"/>
            <a:ext cx="290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1개 만들기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2416" y="2816352"/>
            <a:ext cx="290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 업무를 전담시키는 첫 subagent 제작·호출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22648" y="1856232"/>
            <a:ext cx="3343656" cy="20116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2104" y="2020824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42104" y="2313432"/>
            <a:ext cx="290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구조 이해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42104" y="2816352"/>
            <a:ext cx="290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파일의 두 부분 — frontmatter(설정)와 본문(시스템 프롬프트)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22336" y="1856232"/>
            <a:ext cx="3343656" cy="20116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1792" y="2020824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 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41792" y="2313432"/>
            <a:ext cx="290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 구조 이해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41792" y="2816352"/>
            <a:ext cx="290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컨텍스트에서 일하고 결과만 보고하는 방식의 체감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240280" y="649224"/>
            <a:ext cx="9125712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방식의 </a:t>
            </a:r>
            <a:r>
              <a:rPr lang="en-US" sz="27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r>
              <a:rPr lang="ko-KR" alt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해결 방안</a:t>
            </a: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105430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8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지금까지는 메인 </a:t>
            </a:r>
            <a:r>
              <a:rPr lang="ko-KR" altLang="en-US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대화창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안에서 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이용해 작업을 직접 수행하는 구조</a:t>
            </a:r>
            <a:endParaRPr lang="en-US" altLang="ko-KR" sz="14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28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r>
              <a:rPr 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회의록 10건을 </a:t>
            </a:r>
            <a:r>
              <a:rPr lang="en-US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검증하면</a:t>
            </a:r>
            <a:r>
              <a:rPr 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각각의 </a:t>
            </a:r>
            <a:r>
              <a:rPr lang="en-US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r>
              <a:rPr 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과정이 대화에 전부 축적 → 이후 </a:t>
            </a: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품질 저하</a:t>
            </a:r>
            <a:endParaRPr lang="en-US" sz="1400" dirty="0"/>
          </a:p>
          <a:p>
            <a:pPr marL="285750" indent="-285750">
              <a:lnSpc>
                <a:spcPct val="128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방안</a:t>
            </a:r>
            <a:r>
              <a:rPr 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일을 </a:t>
            </a: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별도의 작업 공간</a:t>
            </a:r>
            <a:r>
              <a:rPr 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대신 처리하고 </a:t>
            </a: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결과만 보고하는</a:t>
            </a:r>
            <a:r>
              <a:rPr 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보조 에이전트, subagent 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endParaRPr lang="en-US" sz="14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28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28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(※ 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버전은 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격리 실행 옵션이 있으나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동작 기준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altLang="ko-KR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005072"/>
            <a:ext cx="5143500" cy="160020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4169664"/>
            <a:ext cx="47045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2416" y="4462272"/>
            <a:ext cx="4704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방법 (HOW) </a:t>
            </a:r>
            <a:r>
              <a:rPr lang="ko-KR" altLang="en-US" sz="14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대한 기능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2416" y="4965192"/>
            <a:ext cx="47045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절차를 적은 재사용 문서 — 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작업을</a:t>
            </a:r>
            <a:r>
              <a:rPr 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메인이 직접 수행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4005072"/>
            <a:ext cx="5143500" cy="160020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1948" y="4169664"/>
            <a:ext cx="47045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1948" y="4462272"/>
            <a:ext cx="4704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주체 (WHO) </a:t>
            </a:r>
            <a:r>
              <a:rPr lang="ko-KR" altLang="en-US" sz="14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대한 기능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1948" y="4965192"/>
            <a:ext cx="47045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컨텍스트에서 일을 </a:t>
            </a:r>
            <a:r>
              <a:rPr lang="en-US" sz="1200" dirty="0" err="1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</a:t>
            </a:r>
            <a:r>
              <a:rPr 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651760" y="649224"/>
            <a:ext cx="8714232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간략 개념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105430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500"/>
              </a:spcAft>
              <a:buNone/>
            </a:pPr>
            <a:r>
              <a:rPr lang="en-US" sz="14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= </a:t>
            </a:r>
            <a:r>
              <a:rPr lang="ko-KR" alt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메인과는 별도로 </a:t>
            </a:r>
            <a:r>
              <a:rPr lang="en-US" sz="145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자기만의</a:t>
            </a:r>
            <a:r>
              <a:rPr lang="en-US" sz="14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컨텍스트</a:t>
            </a:r>
            <a:r>
              <a:rPr 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(작업 기억 공간) · 시스템 프롬프트 · 도구 권한을 따로 가진 보조 에이전트</a:t>
            </a:r>
            <a:endParaRPr lang="en-US" sz="1450" dirty="0"/>
          </a:p>
          <a:p>
            <a:pPr marL="0" indent="0">
              <a:lnSpc>
                <a:spcPct val="128000"/>
              </a:lnSpc>
              <a:spcAft>
                <a:spcPts val="1500"/>
              </a:spcAft>
              <a:buNone/>
            </a:pPr>
            <a:r>
              <a:rPr lang="en-US" sz="14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방법 = </a:t>
            </a:r>
            <a:r>
              <a:rPr lang="en-US" sz="14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.claude/agents/ </a:t>
            </a:r>
            <a:r>
              <a:rPr lang="ko-KR" alt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</a:t>
            </a:r>
            <a:r>
              <a:rPr 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YAML frontmatter + Markdown </a:t>
            </a:r>
            <a:r>
              <a:rPr lang="ko-KR" alt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파일로 작성하면 </a:t>
            </a:r>
            <a:r>
              <a:rPr lang="en-US" altLang="ko-KR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ko-KR" alt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등록</a:t>
            </a:r>
            <a:r>
              <a:rPr lang="en-US" altLang="ko-KR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</a:t>
            </a:r>
            <a:r>
              <a:rPr lang="en-US" altLang="ko-KR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예시처럼</a:t>
            </a:r>
            <a:r>
              <a:rPr lang="en-US" altLang="ko-KR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0" indent="0">
              <a:lnSpc>
                <a:spcPct val="128000"/>
              </a:lnSpc>
              <a:spcAft>
                <a:spcPts val="1500"/>
              </a:spcAft>
              <a:buNone/>
            </a:pPr>
            <a:endParaRPr lang="en-US" altLang="ko-KR" sz="145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8000"/>
              </a:lnSpc>
              <a:spcAft>
                <a:spcPts val="1500"/>
              </a:spcAft>
              <a:buNone/>
            </a:pPr>
            <a:endParaRPr lang="en-US" altLang="ko-KR" sz="145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8000"/>
              </a:lnSpc>
              <a:spcAft>
                <a:spcPts val="1500"/>
              </a:spcAft>
              <a:buNone/>
            </a:pPr>
            <a:endParaRPr lang="en-US" altLang="ko-KR" sz="145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8000"/>
              </a:lnSpc>
              <a:spcAft>
                <a:spcPts val="1500"/>
              </a:spcAft>
              <a:buNone/>
            </a:pPr>
            <a:endParaRPr lang="en-US" sz="1450" dirty="0">
              <a:solidFill>
                <a:srgbClr val="FFD7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8000"/>
              </a:lnSpc>
              <a:spcAft>
                <a:spcPts val="1500"/>
              </a:spcAft>
              <a:buNone/>
            </a:pPr>
            <a:r>
              <a:rPr lang="en-US" sz="14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4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</a:t>
            </a:r>
            <a:r>
              <a:rPr 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r>
              <a:rPr 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 </a:t>
            </a:r>
            <a:endParaRPr lang="en-US" sz="145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8000"/>
              </a:lnSpc>
              <a:spcAft>
                <a:spcPts val="1500"/>
              </a:spcAft>
              <a:buNone/>
            </a:pPr>
            <a:r>
              <a:rPr 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	</a:t>
            </a:r>
            <a:r>
              <a:rPr lang="ko-KR" alt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en-US" altLang="ko-KR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자연어로 생성 요청</a:t>
            </a:r>
            <a:r>
              <a:rPr lang="en-US" altLang="ko-KR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4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quickstart</a:t>
            </a:r>
            <a:r>
              <a:rPr lang="en-US" altLang="ko-KR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흐름</a:t>
            </a:r>
            <a:r>
              <a:rPr lang="en-US" altLang="ko-KR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</a:p>
          <a:p>
            <a:pPr marL="0" indent="0">
              <a:lnSpc>
                <a:spcPct val="128000"/>
              </a:lnSpc>
              <a:spcAft>
                <a:spcPts val="1500"/>
              </a:spcAft>
              <a:buNone/>
            </a:pPr>
            <a:r>
              <a:rPr lang="en-US" altLang="ko-KR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	</a:t>
            </a:r>
            <a:r>
              <a:rPr lang="ko-KR" altLang="en-US" sz="14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파일 직접 작성</a:t>
            </a:r>
            <a:endParaRPr lang="en-US" sz="145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4EFE252-D508-F8F0-132A-FF394C25F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226" y="2712985"/>
            <a:ext cx="6436268" cy="1432030"/>
          </a:xfrm>
          <a:prstGeom prst="rect">
            <a:avLst/>
          </a:prstGeom>
          <a:ln>
            <a:solidFill>
              <a:srgbClr val="FFFF0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302B9-EFE8-325F-5EC0-2F8314D8A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1F72E74B-D827-8288-FA69-61D01CE0E421}"/>
              </a:ext>
            </a:extLst>
          </p:cNvPr>
          <p:cNvSpPr/>
          <p:nvPr/>
        </p:nvSpPr>
        <p:spPr>
          <a:xfrm>
            <a:off x="3374136" y="649224"/>
            <a:ext cx="7991856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FB1EAB-0D76-652F-A770-0E8B79F26678}"/>
              </a:ext>
            </a:extLst>
          </p:cNvPr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실습 진행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AC12BAF-98D3-78DB-D1F9-102225582804}"/>
              </a:ext>
            </a:extLst>
          </p:cNvPr>
          <p:cNvSpPr/>
          <p:nvPr/>
        </p:nvSpPr>
        <p:spPr>
          <a:xfrm>
            <a:off x="822959" y="1673353"/>
            <a:ext cx="1064937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수업에서는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활용해 단일 에이전트를 구축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수업은 여러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서브에이전트를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직접 정의하고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이들을 통제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오케스트레이션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단계로 확장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서브에이전트를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명시적으로 정의하고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이들의 협업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구조까지 직접 설계하려면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사용해야 함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에서는 플러그인으로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등록까지는 가능하나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조율은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자동 수행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414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08467B-67A9-248C-83CD-62031F2C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48C85898-E186-6CB9-9348-1CDF46BD2546}"/>
              </a:ext>
            </a:extLst>
          </p:cNvPr>
          <p:cNvSpPr/>
          <p:nvPr/>
        </p:nvSpPr>
        <p:spPr>
          <a:xfrm>
            <a:off x="3374136" y="649224"/>
            <a:ext cx="7991856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7522C1-F824-813C-59B9-BEF282859714}"/>
              </a:ext>
            </a:extLst>
          </p:cNvPr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실습 진행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92075AA1-9B3C-B95E-7B3E-B605FEA71C5E}"/>
              </a:ext>
            </a:extLst>
          </p:cNvPr>
          <p:cNvSpPr/>
          <p:nvPr/>
        </p:nvSpPr>
        <p:spPr>
          <a:xfrm>
            <a:off x="822959" y="1673352"/>
            <a:ext cx="10285308" cy="4800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CODE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실행</a:t>
            </a:r>
            <a:endParaRPr lang="en-US" sz="16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lvl="0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6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</a:t>
            </a:r>
            <a:r>
              <a:rPr lang="ko-KR" altLang="en-US" sz="16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 첫번째 버튼은 </a:t>
            </a:r>
            <a:r>
              <a:rPr lang="en-US" altLang="ko-KR" sz="16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6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</a:t>
            </a:r>
            <a:r>
              <a:rPr lang="en-US" altLang="ko-KR" sz="16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 </a:t>
            </a:r>
            <a:r>
              <a:rPr lang="ko-KR" altLang="en-US" sz="16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</a:t>
            </a:r>
            <a:endParaRPr lang="en-US" altLang="ko-KR" sz="16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두번째 버튼은 사용할 폴더를</a:t>
            </a:r>
            <a:r>
              <a:rPr lang="en-US" altLang="ko-KR" sz="16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subagent실습</a:t>
            </a:r>
            <a:r>
              <a:rPr lang="ko-KR" altLang="en-US" sz="16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</a:t>
            </a:r>
            <a:r>
              <a:rPr lang="en-US" altLang="ko-KR" sz="16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BE58D3-F00E-B7C6-6C20-815D4B34B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767" y="3017456"/>
            <a:ext cx="6439799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85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374136" y="649224"/>
            <a:ext cx="7991856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프롬프트 — </a:t>
            </a:r>
            <a:r>
              <a:rPr lang="ko-KR" alt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요약하는</a:t>
            </a: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subagent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22960" y="2155953"/>
            <a:ext cx="8512386" cy="4244485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55954"/>
            <a:ext cx="45720" cy="4215384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28397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4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— 생성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8992" y="2576578"/>
            <a:ext cx="8256354" cy="386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2000"/>
              </a:lnSpc>
            </a:pP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프로젝트에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doc-summarizer </a:t>
            </a:r>
            <a:r>
              <a:rPr lang="ko-KR" altLang="en-US" sz="10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서브에이전트를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만들어줘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32000"/>
              </a:lnSpc>
            </a:pP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altLang="ko-KR" sz="10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/agents/doc-summarizer.md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파일로 저장해줘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32000"/>
              </a:lnSpc>
            </a:pPr>
            <a:endParaRPr lang="en-US" altLang="ko-KR" sz="105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32000"/>
              </a:lnSpc>
            </a:pP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frontmatter:</a:t>
            </a:r>
          </a:p>
          <a:p>
            <a:pPr>
              <a:lnSpc>
                <a:spcPct val="132000"/>
              </a:lnSpc>
            </a:pP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name: doc-summarizer</a:t>
            </a:r>
          </a:p>
          <a:p>
            <a:pPr>
              <a:lnSpc>
                <a:spcPct val="132000"/>
              </a:lnSpc>
            </a:pP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description: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등 문서 요약이 필요할 때 반드시 이 에이전트를 사용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32000"/>
              </a:lnSpc>
            </a:pP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 요청이 오면 능동적으로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(proactively)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것</a:t>
            </a:r>
          </a:p>
          <a:p>
            <a:pPr>
              <a:lnSpc>
                <a:spcPct val="132000"/>
              </a:lnSpc>
            </a:pP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tools: Read, Grep, Glob, Write</a:t>
            </a:r>
          </a:p>
          <a:p>
            <a:pPr>
              <a:lnSpc>
                <a:spcPct val="132000"/>
              </a:lnSpc>
            </a:pPr>
            <a:endParaRPr lang="en-US" altLang="ko-KR" sz="105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32000"/>
              </a:lnSpc>
            </a:pP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프롬프트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):</a:t>
            </a:r>
          </a:p>
          <a:p>
            <a:pPr>
              <a:lnSpc>
                <a:spcPct val="132000"/>
              </a:lnSpc>
            </a:pP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너는 연구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문서 전문 </a:t>
            </a:r>
            <a:r>
              <a:rPr lang="ko-KR" altLang="en-US" sz="10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요약가다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 요청이 오면 아래 형식으로만 요약한다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에이전트가 동작 되었음을 확인하기 위해 답변 처음에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 서브 에이전트 실행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이라고 시작한다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32000"/>
              </a:lnSpc>
            </a:pP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가장 상단에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핵심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(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)'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형태로 요약 문장을 제시</a:t>
            </a:r>
          </a:p>
          <a:p>
            <a:pPr>
              <a:lnSpc>
                <a:spcPct val="132000"/>
              </a:lnSpc>
            </a:pP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주요 수치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원문에 수치가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미만이면 있는 만큼만 제시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>
              <a:lnSpc>
                <a:spcPct val="132000"/>
              </a:lnSpc>
            </a:pP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조치 제안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</a:t>
            </a:r>
            <a:b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b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원문에 없는 내용은 지어내지 않으며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불확실한 부분은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원문에 명시되지 않음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이라고 표시한다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32000"/>
              </a:lnSpc>
            </a:pP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파일 이름 뒤에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'_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이름으로 파일을 만든 뒤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저장해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검토할 수 있게 파일 전체 내용을 보여줘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5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C909226B-0D1A-5C10-6A05-018AADB5E109}"/>
              </a:ext>
            </a:extLst>
          </p:cNvPr>
          <p:cNvSpPr/>
          <p:nvPr/>
        </p:nvSpPr>
        <p:spPr>
          <a:xfrm>
            <a:off x="822959" y="1673353"/>
            <a:ext cx="6712374" cy="410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ko-KR" altLang="en-US" sz="13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프롬프트 입력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675888" y="649224"/>
            <a:ext cx="7690104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</a:t>
            </a: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subagent</a:t>
            </a:r>
            <a:r>
              <a:rPr lang="ko-KR" alt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정의</a:t>
            </a:r>
            <a:r>
              <a:rPr lang="en-US" altLang="ko-KR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열어</a:t>
            </a: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</a:t>
            </a: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.</a:t>
            </a:r>
            <a:r>
              <a:rPr lang="en-US" sz="27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/agents/ </a:t>
            </a:r>
            <a:r>
              <a:rPr lang="ko-KR" alt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</a:t>
            </a: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" y="167335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 사이 = frontmatter(</a:t>
            </a:r>
            <a:r>
              <a:rPr lang="en-US" sz="13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r>
              <a:rPr lang="en-US" sz="13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>
              <a:lnSpc>
                <a:spcPct val="128000"/>
              </a:lnSpc>
              <a:spcAft>
                <a:spcPts val="1200"/>
              </a:spcAft>
            </a:pP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</a:t>
            </a:r>
            <a:r>
              <a:rPr lang="en-US" sz="13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아래 = 본문(시스템 </a:t>
            </a:r>
            <a:r>
              <a:rPr lang="en-US" sz="13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lang="en-US" sz="13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2372821-1F21-B719-5FB1-F771CE079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734" y="2715768"/>
            <a:ext cx="9155833" cy="31728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675888" y="649224"/>
            <a:ext cx="7690104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</a:t>
            </a:r>
            <a:r>
              <a:rPr lang="en-US" sz="27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</a:t>
            </a: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28133" y="2248384"/>
            <a:ext cx="5212080" cy="141732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8133" y="2248384"/>
            <a:ext cx="45720" cy="14173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9" name="Text 7"/>
          <p:cNvSpPr/>
          <p:nvPr/>
        </p:nvSpPr>
        <p:spPr>
          <a:xfrm>
            <a:off x="984165" y="2376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4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— 호출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4165" y="2669008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docs/report_A_quantum.txt </a:t>
            </a:r>
            <a:r>
              <a:rPr lang="ko-KR" altLang="en-US" sz="11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보고서를</a:t>
            </a:r>
            <a:r>
              <a:rPr lang="en-US" sz="11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요약해줘.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829559" y="6204711"/>
            <a:ext cx="81517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DA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포인트 — 메인이 subagent를 기동하는 표시가 뜨고, 잠시 후 요약 결과만 대화에 돌아오는 흐름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1E2A76-7C97-1D0C-34AD-829C3E304408}"/>
              </a:ext>
            </a:extLst>
          </p:cNvPr>
          <p:cNvSpPr txBox="1"/>
          <p:nvPr/>
        </p:nvSpPr>
        <p:spPr>
          <a:xfrm>
            <a:off x="728133" y="1376723"/>
            <a:ext cx="10110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</a:t>
            </a:r>
            <a:r>
              <a:rPr lang="ko-KR" altLang="en-US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폴더를 새로 만들었으면</a:t>
            </a:r>
            <a:r>
              <a:rPr lang="en-US" altLang="ko-KR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종료 후 재시작 필요</a:t>
            </a:r>
            <a:endParaRPr lang="en-US" altLang="ko-KR" b="1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후 </a:t>
            </a:r>
            <a:r>
              <a:rPr lang="en-US" altLang="ko-KR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r>
              <a:rPr lang="ko-KR" altLang="en-US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실습 폴더 지정하고 아래 프롬프트 실행</a:t>
            </a:r>
            <a:endParaRPr lang="ko-KR" altLang="en-US" sz="12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460E8C9-2176-C2E8-60FC-A7FBAB0A6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135" y="3876536"/>
            <a:ext cx="8434155" cy="22491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C8CE5-782F-57B7-897C-40BC983F7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38F030D3-A6B8-5536-D64D-A6301CA48E20}"/>
              </a:ext>
            </a:extLst>
          </p:cNvPr>
          <p:cNvSpPr/>
          <p:nvPr/>
        </p:nvSpPr>
        <p:spPr>
          <a:xfrm>
            <a:off x="3675888" y="649224"/>
            <a:ext cx="7690104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6DE170-B6FB-796A-904D-E4C8A8394B4F}"/>
              </a:ext>
            </a:extLst>
          </p:cNvPr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파일을 동시에 요약시키기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FA8881B-17ED-92C7-5172-BD6692A5A3D5}"/>
              </a:ext>
            </a:extLst>
          </p:cNvPr>
          <p:cNvSpPr/>
          <p:nvPr/>
        </p:nvSpPr>
        <p:spPr>
          <a:xfrm>
            <a:off x="909319" y="2166014"/>
            <a:ext cx="5212080" cy="141732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61FC33C-F6D0-6D76-07F2-94B87A2AD5F1}"/>
              </a:ext>
            </a:extLst>
          </p:cNvPr>
          <p:cNvSpPr/>
          <p:nvPr/>
        </p:nvSpPr>
        <p:spPr>
          <a:xfrm>
            <a:off x="909319" y="2166014"/>
            <a:ext cx="45720" cy="14173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3476256-7A4B-C618-BCFA-375DFF87EFBE}"/>
              </a:ext>
            </a:extLst>
          </p:cNvPr>
          <p:cNvSpPr/>
          <p:nvPr/>
        </p:nvSpPr>
        <p:spPr>
          <a:xfrm>
            <a:off x="1165351" y="229403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—</a:t>
            </a:r>
            <a:r>
              <a:rPr kumimoji="0" lang="ko-KR" altLang="en-US" sz="850" b="1" i="0" u="none" strike="noStrike" kern="0" cap="none" spc="2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</a:t>
            </a:r>
            <a:r>
              <a:rPr kumimoji="0" lang="en-US" altLang="ko-KR" sz="850" b="1" i="0" u="none" strike="noStrike" kern="0" cap="none" spc="2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kumimoji="0" lang="ko-KR" altLang="en-US" sz="850" b="1" i="0" u="none" strike="noStrike" kern="0" cap="none" spc="2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요약을 병렬 작업으로 요청해보기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2592968-FF61-1C92-F00C-4FCED3D6CC88}"/>
              </a:ext>
            </a:extLst>
          </p:cNvPr>
          <p:cNvSpPr/>
          <p:nvPr/>
        </p:nvSpPr>
        <p:spPr>
          <a:xfrm>
            <a:off x="1165351" y="2586638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docs/report_B_quantum.txt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보고서와 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docs/minutes_project_review.txt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요약해 줘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파일을 동시에 병렬로 작업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줘.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9F49B83-AD48-D28D-C02A-0AB58F33B729}"/>
              </a:ext>
            </a:extLst>
          </p:cNvPr>
          <p:cNvSpPr/>
          <p:nvPr/>
        </p:nvSpPr>
        <p:spPr>
          <a:xfrm>
            <a:off x="2829559" y="6204711"/>
            <a:ext cx="81517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포인트 —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2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개가 동시에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기동되는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표시가 뜨고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별도로 작업 후 요약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건이 돌아오는 흐름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DFE2F0-AAD4-9D7C-B4B5-1FD9219C0930}"/>
              </a:ext>
            </a:extLst>
          </p:cNvPr>
          <p:cNvSpPr txBox="1"/>
          <p:nvPr/>
        </p:nvSpPr>
        <p:spPr>
          <a:xfrm>
            <a:off x="728133" y="1525524"/>
            <a:ext cx="10110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개를 동시에 요약 작업 시키면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서브에이전트가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어떻게 동작하는지 보기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03EE946-BA18-F6F9-0E20-B7DDF5770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125" y="3846798"/>
            <a:ext cx="7599680" cy="222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081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816352" y="649224"/>
            <a:ext cx="8549640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무슨 일이 일어났나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22960" y="1947672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1C191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476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ko-KR" altLang="en-US" sz="125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0" y="1947672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1C191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9476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Claude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98080" y="1947672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1C191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19476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ko-KR" altLang="en-US" sz="125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 </a:t>
            </a:r>
            <a:r>
              <a:rPr lang="en-US" sz="125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doc-summarizer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(별도 컨텍스트)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651760" y="2359152"/>
            <a:ext cx="1188720" cy="0"/>
          </a:xfrm>
          <a:prstGeom prst="line">
            <a:avLst/>
          </a:prstGeom>
          <a:noFill/>
          <a:ln w="19050">
            <a:solidFill>
              <a:srgbClr val="D5D0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2176272"/>
            <a:ext cx="128016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2569464"/>
            <a:ext cx="128016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headEnd type="triangle"/>
          </a:ln>
        </p:spPr>
      </p:sp>
      <p:sp>
        <p:nvSpPr>
          <p:cNvPr id="16" name="Text 14"/>
          <p:cNvSpPr/>
          <p:nvPr/>
        </p:nvSpPr>
        <p:spPr>
          <a:xfrm>
            <a:off x="5897880" y="16550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 프롬프트 1개 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97880" y="28254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최종 보고 1개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59" y="3387683"/>
            <a:ext cx="11064241" cy="2903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메인 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에게만 지시하고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작업 지시문을 정리해서 서브 에이전트에게 넘김 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3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 프롬프트는 메인 </a:t>
            </a:r>
            <a:r>
              <a:rPr lang="en-US" altLang="ko-KR" sz="13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3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작성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3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서브에이전트에게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업무를 요청하는 것을 </a:t>
            </a:r>
            <a:r>
              <a:rPr lang="ko-KR" altLang="en-US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서브에이전트에게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‘위임‘ 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한다고 표현함</a:t>
            </a:r>
            <a:endParaRPr lang="en-US" altLang="ko-KR" sz="13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</a:t>
            </a:r>
            <a:r>
              <a:rPr lang="ko-KR" altLang="en-US" sz="1300" dirty="0" err="1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클로드가</a:t>
            </a:r>
            <a:r>
              <a:rPr lang="ko-KR" altLang="en-US" sz="13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서브 에이전트에게 위임하는 프롬프트 </a:t>
            </a:r>
            <a:r>
              <a:rPr lang="en-US" altLang="ko-KR" sz="13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3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전달하고</a:t>
            </a:r>
            <a:r>
              <a:rPr lang="en-US" altLang="ko-KR" sz="13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3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최종 보고 </a:t>
            </a:r>
            <a:r>
              <a:rPr lang="en-US" altLang="ko-KR" sz="13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3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받는 작업으로만 이루어짐</a:t>
            </a:r>
            <a:endParaRPr lang="en-US" altLang="ko-KR" sz="1300" dirty="0">
              <a:solidFill>
                <a:srgbClr val="FFFF00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 메인 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간에 주고받는 대화 없음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(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채팅이 아니라 심부름 개념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시킬 때 한 번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들고 올 때 한 번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285750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ko-KR" altLang="en-US" sz="13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메인 대화 내용을 모름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시스템 프롬프트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ko-KR" altLang="en-US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위임받은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지시문만 갖고 일함</a:t>
            </a:r>
            <a:endParaRPr lang="en-US" altLang="ko-KR" sz="13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2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문서를 읽으며 만든 중간 결과물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원문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전부 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컨텍스트에만 쌓이고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메인에는 최종 보고만 돌아옴</a:t>
            </a:r>
            <a:endParaRPr lang="en-US" altLang="ko-KR" sz="13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816352" y="649224"/>
            <a:ext cx="8549640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</a:t>
            </a:r>
            <a:r>
              <a:rPr lang="ko-KR" alt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</a:t>
            </a:r>
            <a:r>
              <a:rPr lang="en-US" altLang="ko-KR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</a:t>
            </a:r>
            <a:r>
              <a:rPr lang="en-US" altLang="ko-KR" sz="27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</a:t>
            </a:r>
            <a:r>
              <a:rPr lang="en-US" altLang="ko-KR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7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</a:t>
            </a:r>
            <a:r>
              <a:rPr lang="en-US" altLang="ko-KR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105430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8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대화의 작업 기억 공간</a:t>
            </a:r>
            <a:r>
              <a:rPr lang="en-US" altLang="ko-KR" sz="14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윈도우</a:t>
            </a:r>
            <a:r>
              <a:rPr lang="en-US" altLang="ko-KR" sz="14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아끼는 것이 </a:t>
            </a:r>
            <a:r>
              <a:rPr lang="en-US" altLang="ko-KR" sz="14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ko-KR" altLang="en-US" sz="1400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핵심 가치</a:t>
            </a:r>
            <a:endParaRPr lang="en-US" sz="1400" dirty="0">
              <a:solidFill>
                <a:srgbClr val="FFD7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28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메인과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간에 컨텍스트 격리 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subagent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메인 대화를 모르고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메인은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중간 </a:t>
            </a:r>
            <a:r>
              <a:rPr lang="ko-KR" altLang="en-US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작업물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원문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받지 않고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보고만 받음</a:t>
            </a:r>
            <a:endParaRPr lang="en-US" sz="14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28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윈도우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</a:t>
            </a:r>
            <a:r>
              <a:rPr lang="en-US" altLang="ko-KR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</a:t>
            </a:r>
            <a:r>
              <a:rPr lang="en-US" altLang="ko-KR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번에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기억·참조하는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가득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찰수록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저하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책상이 서류로 뒤덮이면 일이 안 되는 것과 같음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  <a:p>
            <a:pPr marL="285750" indent="-285750">
              <a:lnSpc>
                <a:spcPct val="128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subagent는 AI를 더 똑똑하게 만드는 것이 아니라 </a:t>
            </a: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대화의 기억 품질</a:t>
            </a:r>
            <a:r>
              <a:rPr 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지켜 주는 것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16352" y="649224"/>
            <a:ext cx="8549640" cy="0"/>
          </a:xfrm>
          <a:prstGeom prst="line">
            <a:avLst/>
          </a:prstGeom>
          <a:noFill/>
          <a:ln w="9525">
            <a:solidFill>
              <a:srgbClr val="433F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altLang="ko-KR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</a:t>
            </a:r>
            <a:r>
              <a:rPr lang="ko-KR" alt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 — 역할 특화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04672" y="3591221"/>
            <a:ext cx="5138928" cy="2148840"/>
          </a:xfrm>
          <a:prstGeom prst="roundRect">
            <a:avLst>
              <a:gd name="adj" fmla="val 2553"/>
            </a:avLst>
          </a:prstGeom>
          <a:solidFill>
            <a:srgbClr val="1C1913"/>
          </a:solidFill>
          <a:ln w="12700">
            <a:solidFill>
              <a:srgbClr val="433F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3755813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없이 — 만능 비서 1명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4128" y="4066708"/>
            <a:ext cx="4700016" cy="1297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Claude)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요약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검증을 전부 담당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일이 섞일수록 각 작업의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잊혀지고 흐려짐</a:t>
            </a:r>
          </a:p>
        </p:txBody>
      </p:sp>
      <p:sp>
        <p:nvSpPr>
          <p:cNvPr id="9" name="Text 7"/>
          <p:cNvSpPr/>
          <p:nvPr/>
        </p:nvSpPr>
        <p:spPr>
          <a:xfrm>
            <a:off x="1024128" y="4798229"/>
            <a:ext cx="4700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99632" y="3591221"/>
            <a:ext cx="5138928" cy="2148840"/>
          </a:xfrm>
          <a:prstGeom prst="roundRect">
            <a:avLst>
              <a:gd name="adj" fmla="val 2553"/>
            </a:avLst>
          </a:prstGeom>
          <a:solidFill>
            <a:srgbClr val="1C1913"/>
          </a:solidFill>
          <a:ln w="12700">
            <a:solidFill>
              <a:srgbClr val="433F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3755813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SUBAGENT로 — 전담 전문가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19088" y="4066709"/>
            <a:ext cx="4700016" cy="129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요약은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doc-summarizer,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번역은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translator,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검증은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fact-checker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전문 분야별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에이전트가 각각 담당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시켜도 같은 방식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품질로 작업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EA10AA6-B013-00B7-0551-05734DC9D9FD}"/>
              </a:ext>
            </a:extLst>
          </p:cNvPr>
          <p:cNvSpPr/>
          <p:nvPr/>
        </p:nvSpPr>
        <p:spPr>
          <a:xfrm>
            <a:off x="822960" y="1719072"/>
            <a:ext cx="10543032" cy="767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8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특화 기능은 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로도 가능 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subagent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진짜 차별점은 컨텍스트 격리 상태에서 역할이 특화된다는 것</a:t>
            </a:r>
            <a:endParaRPr lang="en-US" altLang="ko-KR" sz="14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28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메인 컨텍스트가 길어지더라도 서브 에이전트는 전문가의 역할을 언제나 같은 품질로 수행함 </a:t>
            </a:r>
            <a:endParaRPr lang="en-US" altLang="ko-KR" sz="14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28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28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요약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검증을 한번에 모두 시킨다고 가정했을 때 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유무에 따른 작업 흐름 차이 예시</a:t>
            </a:r>
            <a:endParaRPr lang="en-US" sz="14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16352" y="649224"/>
            <a:ext cx="8549640" cy="0"/>
          </a:xfrm>
          <a:prstGeom prst="line">
            <a:avLst/>
          </a:prstGeom>
          <a:noFill/>
          <a:ln w="9525">
            <a:solidFill>
              <a:srgbClr val="433F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altLang="ko-KR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—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에이전트별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분리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572767"/>
            <a:ext cx="10543032" cy="2001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 별로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할 일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이상의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행동을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못하도록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구조적으로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en-US" altLang="ko-KR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</a:rPr>
              <a:t>skill</a:t>
            </a: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</a:rPr>
              <a:t>은 승인 절차를 건너뛰게 하는 수준까지 우리가 통제 가능하고 다른 도구를 완전히 차단하지는 못함</a:t>
            </a:r>
            <a:r>
              <a:rPr lang="en-US" altLang="ko-KR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285750" lvl="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 정의하는 파일에서 </a:t>
            </a:r>
            <a:r>
              <a:rPr lang="en-US" altLang="ko-KR" sz="13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frontmatter의</a:t>
            </a:r>
            <a:r>
              <a:rPr lang="en-US" altLang="ko-KR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5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</a:t>
            </a:r>
            <a:r>
              <a:rPr lang="en-US" altLang="ko-KR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필드로</a:t>
            </a:r>
            <a:r>
              <a:rPr lang="en-US" altLang="ko-KR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</a:t>
            </a:r>
            <a:r>
              <a:rPr lang="en-US" altLang="ko-KR" sz="13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</a:t>
            </a:r>
            <a:r>
              <a:rPr lang="en-US" altLang="ko-KR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</a:t>
            </a:r>
            <a:r>
              <a:rPr lang="en-US" altLang="ko-KR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kumimoji="0" lang="en-US" sz="135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ko-KR" altLang="en-US" sz="13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kumimoji="0" lang="en-US" sz="135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doc-summarizer는 읽기 3종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쓰기만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허용 → 요약하다 실수로 파일을 고치거나 지우는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일이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불가능</a:t>
            </a: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altLang="ko-KR" sz="1400" b="1" dirty="0">
              <a:solidFill>
                <a:srgbClr val="FFD7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 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목록</a:t>
            </a:r>
            <a:endParaRPr lang="en-US" altLang="ko-KR" sz="1400" dirty="0">
              <a:latin typeface="Malgun Gothic" charset="0"/>
              <a:ea typeface="Malgun Gothic" charset="0"/>
              <a:cs typeface="Malgun Gothic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329924"/>
              </p:ext>
            </p:extLst>
          </p:nvPr>
        </p:nvGraphicFramePr>
        <p:xfrm>
          <a:off x="822960" y="3687063"/>
          <a:ext cx="10543032" cy="2381505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5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수 있는 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doc-summarizer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Read · Grep · Glob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내용 읽기 · 문구 검색 · 파일 찾기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쓰기</a:t>
                      </a:r>
                      <a:r>
                        <a:rPr lang="en-US" sz="1100" b="1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및 수정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Write · Edit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파일 만들기 · 기존 파일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Write</a:t>
                      </a:r>
                      <a:r>
                        <a:rPr lang="ko-KR" alt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허</a:t>
                      </a:r>
                      <a:r>
                        <a:rPr lang="en-US" altLang="ko-KR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</a:t>
                      </a:r>
                      <a:r>
                        <a:rPr lang="ko-KR" altLang="en-US" sz="1100" dirty="0">
                          <a:solidFill>
                            <a:srgbClr val="7A7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 명령 실행 — 가장 강력, 가장 주의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7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접근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WebSearch · WebFetch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검색 · 웹페이지 가져오기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7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subagent 호출(중첩)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7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16352" y="649224"/>
            <a:ext cx="8549640" cy="0"/>
          </a:xfrm>
          <a:prstGeom prst="line">
            <a:avLst/>
          </a:prstGeom>
          <a:noFill/>
          <a:ln w="9525">
            <a:solidFill>
              <a:srgbClr val="433F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altLang="ko-KR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— 병렬 처리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910328" y="164592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C1913"/>
          </a:solidFill>
          <a:ln w="15875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0328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Claude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 flipH="1">
            <a:off x="2468880" y="2148840"/>
            <a:ext cx="3630168" cy="502920"/>
          </a:xfrm>
          <a:prstGeom prst="line">
            <a:avLst/>
          </a:prstGeom>
          <a:noFill/>
          <a:ln w="1587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6062472" y="2148840"/>
            <a:ext cx="36576" cy="502920"/>
          </a:xfrm>
          <a:prstGeom prst="line">
            <a:avLst/>
          </a:prstGeom>
          <a:noFill/>
          <a:ln w="1587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99048" y="2148840"/>
            <a:ext cx="3557016" cy="502920"/>
          </a:xfrm>
          <a:prstGeom prst="line">
            <a:avLst/>
          </a:prstGeom>
          <a:noFill/>
          <a:ln w="1587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35508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위임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2697480"/>
            <a:ext cx="3291840" cy="960120"/>
          </a:xfrm>
          <a:prstGeom prst="roundRect">
            <a:avLst>
              <a:gd name="adj" fmla="val 5714"/>
            </a:avLst>
          </a:prstGeom>
          <a:solidFill>
            <a:srgbClr val="1C1913"/>
          </a:solidFill>
          <a:ln w="12700">
            <a:solidFill>
              <a:srgbClr val="433F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834640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4128" y="310896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report_A_quantum</a:t>
            </a:r>
            <a:r>
              <a:rPr lang="en-US" sz="11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회의록을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요약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4128" y="336499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별도 컨텍스트에서 진행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448556" y="2697480"/>
            <a:ext cx="3291840" cy="960120"/>
          </a:xfrm>
          <a:prstGeom prst="roundRect">
            <a:avLst>
              <a:gd name="adj" fmla="val 5714"/>
            </a:avLst>
          </a:prstGeom>
          <a:solidFill>
            <a:srgbClr val="1C1913"/>
          </a:solidFill>
          <a:ln w="12700">
            <a:solidFill>
              <a:srgbClr val="433F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9724" y="2834640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49724" y="310896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kumimoji="0" 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report_B_quantum</a:t>
            </a:r>
            <a:r>
              <a:rPr lang="en-US" sz="11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회의록을</a:t>
            </a:r>
            <a:r>
              <a:rPr lang="en-US" altLang="ko-KR" sz="11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49724" y="336499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별도 컨텍스트에서 진행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74152" y="2697480"/>
            <a:ext cx="3291840" cy="960120"/>
          </a:xfrm>
          <a:prstGeom prst="roundRect">
            <a:avLst>
              <a:gd name="adj" fmla="val 5714"/>
            </a:avLst>
          </a:prstGeom>
          <a:solidFill>
            <a:srgbClr val="1C1913"/>
          </a:solidFill>
          <a:ln w="12700">
            <a:solidFill>
              <a:srgbClr val="433F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2834640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75320" y="310896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kumimoji="0" 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minutes_project_review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회의록을</a:t>
            </a:r>
            <a:r>
              <a:rPr lang="en-US" altLang="ko-KR" sz="11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75320" y="336499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별도 컨텍스트에서 진행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" y="4160520"/>
            <a:ext cx="1054303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서로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독립적인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작업이면 여러 subagent를 동시에 실행 — 순서대로가 아니라 한꺼번에 진행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프롬프트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“docs 폴더의 report_A,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report_B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회의록을 각각 subagent로 동시에 요약해줘”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심부름 세 건을 세 사람에게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보내는 것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컨텍스트가 격리되는 건 중간 과정뿐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보고는 모두 </a:t>
            </a:r>
            <a:r>
              <a:rPr kumimoji="0" lang="ko-KR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메인에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쌓임 → 병렬로 많이 돌릴수록 보고가 쌓이니 결국 메인 컨텍스트가 계속 차게 됨</a:t>
            </a: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짧게 요약해서 보고하도록 서브 에이전트 정의 파일을 작성하는 것이 중요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816352" y="649224"/>
            <a:ext cx="8549640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파일의 구조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22960" y="1673352"/>
            <a:ext cx="4754880" cy="333756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73352"/>
            <a:ext cx="45720" cy="333756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1801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50" b="1" kern="0" spc="24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doc-summarizer.md </a:t>
            </a:r>
            <a:r>
              <a:rPr lang="ko-KR" altLang="en-US" sz="850" b="1" kern="0" spc="24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요약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8992" y="2093976"/>
            <a:ext cx="424281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name: doc-summarizer</a:t>
            </a:r>
            <a:endParaRPr lang="en-US" sz="1050" dirty="0"/>
          </a:p>
          <a:p>
            <a:pPr>
              <a:lnSpc>
                <a:spcPct val="132000"/>
              </a:lnSpc>
            </a:pPr>
            <a:r>
              <a:rPr 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description: </a:t>
            </a:r>
            <a:r>
              <a:rPr lang="ko-KR" alt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r>
              <a:rPr lang="en-US" altLang="ko-KR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</a:t>
            </a:r>
            <a:r>
              <a:rPr lang="en-US" altLang="ko-KR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등 문서 요약이 필요할 때 반드시 이 에이전트를 사용</a:t>
            </a:r>
            <a:r>
              <a:rPr lang="en-US" altLang="ko-KR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32000"/>
              </a:lnSpc>
            </a:pPr>
            <a:r>
              <a:rPr lang="ko-KR" alt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 요청이 오면 능동적으로</a:t>
            </a:r>
            <a:r>
              <a:rPr lang="en-US" altLang="ko-KR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(proactively) </a:t>
            </a:r>
            <a:r>
              <a:rPr lang="ko-KR" alt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것</a:t>
            </a:r>
          </a:p>
          <a:p>
            <a:pPr marL="0" indent="0">
              <a:lnSpc>
                <a:spcPct val="132000"/>
              </a:lnSpc>
              <a:buNone/>
            </a:pP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tools: Read, Grep, Glob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당신은 KISTI 문서 전문 요약가입니다.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 받으면 ① 한 줄 핵심 ② 주요 수치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후속조치 제안 형식으로 요약합니다.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89320" y="17190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52360" y="1719072"/>
            <a:ext cx="3913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에이전트를 부를 때 사용하는 </a:t>
            </a:r>
            <a:r>
              <a:rPr lang="en-US" sz="11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호출용</a:t>
            </a:r>
            <a:r>
              <a:rPr 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89320" y="2395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description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52359" y="2395728"/>
            <a:ext cx="42655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위임의 판단 기준 — </a:t>
            </a: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+ 언제 사용" </a:t>
            </a:r>
            <a:r>
              <a:rPr lang="en-US" sz="11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조건형</a:t>
            </a: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작성</a:t>
            </a:r>
            <a:endParaRPr lang="en-US" sz="11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</a:t>
            </a:r>
            <a:r>
              <a:rPr lang="ko-KR" altLang="en-US" sz="11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메인이</a:t>
            </a: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위임을 결정할 때 읽는 유일한 단서</a:t>
            </a:r>
            <a:endParaRPr lang="en-US" sz="11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89320" y="30723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52360" y="3072384"/>
            <a:ext cx="3913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r>
              <a:rPr 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허용</a:t>
            </a:r>
            <a:r>
              <a:rPr 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</a:t>
            </a:r>
            <a:r>
              <a:rPr lang="en-US" altLang="ko-KR" sz="11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생략하면</a:t>
            </a:r>
            <a:r>
              <a:rPr lang="en-US" altLang="ko-KR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대화가 가지고 있는 권한과 거의 동일하게 받음</a:t>
            </a:r>
            <a:r>
              <a:rPr lang="en-US" altLang="ko-KR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altLang="ko-KR" sz="11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</a:t>
            </a:r>
            <a:r>
              <a:rPr lang="en-US" altLang="ko-KR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것만</a:t>
            </a:r>
            <a:r>
              <a:rPr lang="en-US" altLang="ko-KR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</a:t>
            </a:r>
            <a:r>
              <a:rPr lang="en-US" altLang="ko-KR" sz="11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r>
              <a:rPr lang="en-US" altLang="ko-KR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허용하기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52359" y="3749040"/>
            <a:ext cx="4451773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</a:t>
            </a:r>
            <a:r>
              <a:rPr lang="en-US" altLang="ko-KR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</a:t>
            </a: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지정할 수 있으나</a:t>
            </a:r>
            <a:r>
              <a:rPr lang="en-US" altLang="ko-KR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생략하면 메인 세션의 모델을 그대로 상속하므로 생략이 무난</a:t>
            </a:r>
            <a:r>
              <a:rPr lang="en-US" altLang="ko-KR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</a:t>
            </a:r>
            <a:r>
              <a:rPr lang="en-US" altLang="ko-KR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모델과 무관하게 일관된 품질이 필요한 에이전트라면 명시적으로 고정</a:t>
            </a:r>
            <a:r>
              <a:rPr lang="en-US" altLang="ko-KR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(</a:t>
            </a: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분석가처럼</a:t>
            </a:r>
            <a:r>
              <a:rPr lang="en-US" altLang="ko-KR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최상위 모델로만 작동해야 하는 등</a:t>
            </a:r>
            <a:r>
              <a:rPr lang="en-US" altLang="ko-KR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</p:txBody>
      </p:sp>
      <p:sp>
        <p:nvSpPr>
          <p:cNvPr id="19" name="Text 17"/>
          <p:cNvSpPr/>
          <p:nvPr/>
        </p:nvSpPr>
        <p:spPr>
          <a:xfrm>
            <a:off x="5989320" y="4754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52360" y="4754880"/>
            <a:ext cx="3913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subagent의 시스템 프롬프트 — subagent</a:t>
            </a:r>
            <a:r>
              <a:rPr lang="ko-KR" alt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작업하는</a:t>
            </a:r>
            <a:r>
              <a:rPr lang="en-US" sz="11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239512"/>
            <a:ext cx="503597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ko-KR" altLang="en-US" sz="1150" dirty="0">
                <a:solidFill>
                  <a:srgbClr val="ADA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r>
              <a:rPr lang="en-US" sz="1150" dirty="0">
                <a:solidFill>
                  <a:srgbClr val="ADA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Read(내용 읽기) · Grep(문구 검색) · Glob(파일 </a:t>
            </a:r>
            <a:r>
              <a:rPr lang="en-US" sz="1150" dirty="0" err="1">
                <a:solidFill>
                  <a:srgbClr val="ADA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찾기</a:t>
            </a:r>
            <a:r>
              <a:rPr lang="en-US" sz="1150" dirty="0">
                <a:solidFill>
                  <a:srgbClr val="ADA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altLang="ko-KR" sz="1150" dirty="0">
                <a:solidFill>
                  <a:srgbClr val="ADA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en-US" sz="1150" dirty="0">
                <a:solidFill>
                  <a:srgbClr val="ADA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Write(</a:t>
            </a:r>
            <a:r>
              <a:rPr lang="ko-KR" altLang="en-US" sz="1150" dirty="0">
                <a:solidFill>
                  <a:srgbClr val="ADA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쓰기</a:t>
            </a:r>
            <a:r>
              <a:rPr lang="en-US" altLang="ko-KR" sz="1150" dirty="0">
                <a:solidFill>
                  <a:srgbClr val="ADA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1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0B19A7-B2E3-BB9A-929E-1ECFC4F48587}"/>
              </a:ext>
            </a:extLst>
          </p:cNvPr>
          <p:cNvSpPr txBox="1"/>
          <p:nvPr/>
        </p:nvSpPr>
        <p:spPr>
          <a:xfrm>
            <a:off x="5989320" y="536908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D733"/>
                </a:solidFill>
              </a:rPr>
              <a:t>※ </a:t>
            </a:r>
            <a:r>
              <a:rPr lang="ko-KR" altLang="en-US" sz="1400" dirty="0">
                <a:solidFill>
                  <a:srgbClr val="FFD733"/>
                </a:solidFill>
              </a:rPr>
              <a:t>이 외에도 </a:t>
            </a:r>
            <a:r>
              <a:rPr lang="en-US" altLang="ko-KR" sz="1400" dirty="0">
                <a:solidFill>
                  <a:srgbClr val="FFD733"/>
                </a:solidFill>
              </a:rPr>
              <a:t>skills(</a:t>
            </a:r>
            <a:r>
              <a:rPr lang="ko-KR" altLang="en-US" sz="1400" dirty="0">
                <a:solidFill>
                  <a:srgbClr val="FFD733"/>
                </a:solidFill>
              </a:rPr>
              <a:t>스킬 미리 로드</a:t>
            </a:r>
            <a:r>
              <a:rPr lang="en-US" altLang="ko-KR" sz="1400" dirty="0">
                <a:solidFill>
                  <a:srgbClr val="FFD733"/>
                </a:solidFill>
              </a:rPr>
              <a:t>), memory(</a:t>
            </a:r>
            <a:r>
              <a:rPr lang="ko-KR" altLang="en-US" sz="1400" dirty="0">
                <a:solidFill>
                  <a:srgbClr val="FFD733"/>
                </a:solidFill>
              </a:rPr>
              <a:t>영속 기억</a:t>
            </a:r>
            <a:r>
              <a:rPr lang="en-US" altLang="ko-KR" sz="1400" dirty="0">
                <a:solidFill>
                  <a:srgbClr val="FFD733"/>
                </a:solidFill>
              </a:rPr>
              <a:t>), </a:t>
            </a:r>
            <a:r>
              <a:rPr lang="en-US" altLang="ko-KR" sz="1400" dirty="0" err="1">
                <a:solidFill>
                  <a:srgbClr val="FFD733"/>
                </a:solidFill>
              </a:rPr>
              <a:t>disallowedTools</a:t>
            </a:r>
            <a:r>
              <a:rPr lang="en-US" altLang="ko-KR" sz="1400" dirty="0">
                <a:solidFill>
                  <a:srgbClr val="FFD733"/>
                </a:solidFill>
              </a:rPr>
              <a:t>(</a:t>
            </a:r>
            <a:r>
              <a:rPr lang="ko-KR" altLang="en-US" sz="1400" dirty="0">
                <a:solidFill>
                  <a:srgbClr val="FFD733"/>
                </a:solidFill>
              </a:rPr>
              <a:t>거부 목록</a:t>
            </a:r>
            <a:r>
              <a:rPr lang="en-US" altLang="ko-KR" sz="1400" dirty="0">
                <a:solidFill>
                  <a:srgbClr val="FFD733"/>
                </a:solidFill>
              </a:rPr>
              <a:t>) </a:t>
            </a:r>
            <a:r>
              <a:rPr lang="ko-KR" altLang="en-US" sz="1400" dirty="0">
                <a:solidFill>
                  <a:srgbClr val="FFD733"/>
                </a:solidFill>
              </a:rPr>
              <a:t>등 고급 필드가 있음 </a:t>
            </a:r>
            <a:r>
              <a:rPr lang="en-US" altLang="ko-KR" sz="1400" dirty="0">
                <a:solidFill>
                  <a:srgbClr val="FFD733"/>
                </a:solidFill>
              </a:rPr>
              <a:t>— </a:t>
            </a:r>
            <a:r>
              <a:rPr lang="ko-KR" altLang="en-US" sz="1400" dirty="0">
                <a:solidFill>
                  <a:srgbClr val="FFD733"/>
                </a:solidFill>
              </a:rPr>
              <a:t>필수는 </a:t>
            </a:r>
            <a:r>
              <a:rPr lang="en-US" altLang="ko-KR" sz="1400" dirty="0" err="1">
                <a:solidFill>
                  <a:srgbClr val="FFD733"/>
                </a:solidFill>
              </a:rPr>
              <a:t>name·description</a:t>
            </a:r>
            <a:r>
              <a:rPr lang="en-US" altLang="ko-KR" sz="1400" dirty="0">
                <a:solidFill>
                  <a:srgbClr val="FFD733"/>
                </a:solidFill>
              </a:rPr>
              <a:t> 2</a:t>
            </a:r>
            <a:r>
              <a:rPr lang="ko-KR" altLang="en-US" sz="1400" dirty="0">
                <a:solidFill>
                  <a:srgbClr val="FFD733"/>
                </a:solidFill>
              </a:rPr>
              <a:t>개뿐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816352" y="649224"/>
            <a:ext cx="8549640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호출 방법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22960" y="1810512"/>
            <a:ext cx="3343656" cy="233172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1975104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</a:t>
            </a:r>
            <a:r>
              <a:rPr lang="en-US" altLang="ko-KR" sz="140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40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위임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2416" y="2267712"/>
            <a:ext cx="290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</a:t>
            </a:r>
            <a:r>
              <a:rPr lang="ko-KR" altLang="en-US" sz="16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</a:t>
            </a:r>
            <a:r>
              <a:rPr lang="en-US" altLang="ko-KR" sz="16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6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방식</a:t>
            </a:r>
            <a:r>
              <a:rPr lang="en-US" altLang="ko-KR" sz="16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2416" y="2770632"/>
            <a:ext cx="2904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</a:t>
            </a: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사용자의 요청 내용과 현재 문맥을 각 </a:t>
            </a: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대조해 위임</a:t>
            </a: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위임이 가장 기본 방식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22648" y="1810512"/>
            <a:ext cx="3343656" cy="233172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2104" y="1975104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— </a:t>
            </a:r>
            <a:r>
              <a:rPr lang="ko-KR" altLang="en-US" sz="140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명시적</a:t>
            </a:r>
            <a:r>
              <a:rPr lang="en-US" sz="140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42104" y="2267712"/>
            <a:ext cx="290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6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프롬프트에서 이름 언급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2104" y="2770632"/>
            <a:ext cx="2904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"test-runner subagent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실패한 테스트 고쳐줘</a:t>
            </a: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이름을 부르는 방식</a:t>
            </a: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언급하면 </a:t>
            </a: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보통 위임하지만</a:t>
            </a: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 여부의 최종 판단은 </a:t>
            </a: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있음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22336" y="1810512"/>
            <a:ext cx="3343656" cy="233172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1792" y="1975104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</a:t>
            </a:r>
            <a:r>
              <a:rPr lang="en-US" altLang="ko-KR" sz="140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@</a:t>
            </a:r>
            <a:r>
              <a:rPr lang="ko-KR" altLang="en-US" sz="1400" b="1" kern="0" spc="22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41792" y="2267712"/>
            <a:ext cx="290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</a:t>
            </a:r>
            <a:r>
              <a:rPr lang="ko-KR" altLang="en-US" sz="16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r>
              <a:rPr lang="en-US" sz="16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r>
              <a:rPr lang="en-US" sz="16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41792" y="2770632"/>
            <a:ext cx="2904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‘@ agent-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 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형태로 지정 가능</a:t>
            </a:r>
            <a:endParaRPr lang="en-US" altLang="ko-KR" sz="1200" dirty="0">
              <a:solidFill>
                <a:srgbClr val="D5D0C4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30000"/>
              </a:lnSpc>
            </a:pPr>
            <a:endParaRPr lang="en-US" altLang="ko-KR" sz="1200" dirty="0">
              <a:solidFill>
                <a:srgbClr val="D5D0C4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</a:t>
            </a:r>
            <a:r>
              <a:rPr lang="ko-KR" altLang="en-US" sz="1200" dirty="0" err="1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멘션은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어떤 </a:t>
            </a: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실행될지를 보장하며</a:t>
            </a: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 프롬프트 내용은 여전히 메인 </a:t>
            </a:r>
            <a:r>
              <a:rPr lang="en-US" altLang="ko-KR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작성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816352" y="649224"/>
            <a:ext cx="8549640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ko-KR" alt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필요한 순간에만 구분해서 사용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96468" y="4071452"/>
            <a:ext cx="5143500" cy="20116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5924" y="4236044"/>
            <a:ext cx="47045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유리한 일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5924" y="4528652"/>
            <a:ext cx="4704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r>
              <a:rPr lang="en-US" sz="14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sz="14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길고 결과는 짧은 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5924" y="5031572"/>
            <a:ext cx="47045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여러 건의 검증·요약·조사 / 서로 독립적인 병렬 작업 / 권한을 좁혀 두면 안전해지는 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0" y="4071452"/>
            <a:ext cx="5143500" cy="20116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5456" y="4236044"/>
            <a:ext cx="47045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불리한 일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315456" y="4528652"/>
            <a:ext cx="4704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메인이 직접 하는 편이 나은 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15456" y="5031572"/>
            <a:ext cx="47045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한두 문장이면 끝나는 단발 작업 / 대화 맥락을 계속 이어받아야 하는 일 / 단계마다 사람이 조정해야 하는 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5855" y="1609342"/>
            <a:ext cx="11089641" cy="225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8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ko-KR" altLang="en-US" sz="13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서브에이전트는</a:t>
            </a: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토큰</a:t>
            </a:r>
            <a:r>
              <a:rPr 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소모가 큼</a:t>
            </a:r>
            <a:endParaRPr lang="en-US" altLang="ko-KR" sz="135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28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</a:t>
            </a:r>
            <a:r>
              <a:rPr lang="en-US" altLang="ko-KR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→ 도구 실행 → 결과 확인 → 다음 행동</a:t>
            </a:r>
            <a:r>
              <a:rPr lang="en-US" altLang="ko-KR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계속 도는 루프라 원래 토큰 소모량이 큰데</a:t>
            </a:r>
            <a:r>
              <a:rPr lang="en-US" altLang="ko-KR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에이전트를 여러 개 동시에 돌리면 당연히 토큰 소모량은 배가 됨</a:t>
            </a:r>
            <a:endParaRPr lang="en-US" altLang="ko-KR" sz="135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28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altLang="ko-KR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위임하면 </a:t>
            </a:r>
            <a:r>
              <a:rPr lang="ko-KR" altLang="en-US" sz="13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메인이</a:t>
            </a: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이미 아는 파일</a:t>
            </a:r>
            <a:r>
              <a:rPr lang="en-US" altLang="ko-KR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상황을 각 </a:t>
            </a:r>
            <a:r>
              <a:rPr lang="en-US" altLang="ko-KR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처음부터 다시 파악해야 함</a:t>
            </a:r>
            <a:endParaRPr lang="en-US" altLang="ko-KR" sz="135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28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en-US" altLang="ko-KR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</a:t>
            </a: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기준</a:t>
            </a:r>
            <a:r>
              <a:rPr lang="en-US" altLang="ko-KR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테스트 결과 병렬 다중 에이전트를 사용하니 </a:t>
            </a:r>
            <a:r>
              <a:rPr lang="ko-KR" altLang="en-US" sz="13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토큰을 약 </a:t>
            </a:r>
            <a:r>
              <a:rPr lang="en-US" altLang="ko-KR" sz="13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r>
              <a:rPr lang="ko-KR" altLang="en-US" sz="13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 더 소모</a:t>
            </a:r>
            <a:endParaRPr lang="en-US" sz="1350" dirty="0"/>
          </a:p>
          <a:p>
            <a:pPr marL="285750" indent="-285750">
              <a:lnSpc>
                <a:spcPct val="128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r>
              <a:rPr 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subagent는 </a:t>
            </a:r>
            <a:r>
              <a:rPr 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쓰는 기본값이 아니라</a:t>
            </a:r>
            <a:r>
              <a:rPr 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</a:t>
            </a:r>
            <a:r>
              <a:rPr lang="en-US" sz="135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컨텍스트를</a:t>
            </a:r>
            <a:r>
              <a:rPr 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유지해야 하거나 권한을 분리하는 등 장점이 명확할 때만 사용해야 함 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820156" y="2514600"/>
            <a:ext cx="548640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subagent 한 번에 지휘하기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E305D2-8332-17E1-3060-A03D09E01B5B}"/>
              </a:ext>
            </a:extLst>
          </p:cNvPr>
          <p:cNvSpPr txBox="1"/>
          <p:nvPr/>
        </p:nvSpPr>
        <p:spPr>
          <a:xfrm>
            <a:off x="1930399" y="3987835"/>
            <a:ext cx="86106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보고서 및 문서를 한번에 요약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비평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번역해주는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</a:t>
            </a:r>
            <a:r>
              <a:rPr lang="ko-KR" altLang="en-US" sz="20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</a:t>
            </a:r>
            <a:endParaRPr lang="ko-KR" alt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240280" y="649224"/>
            <a:ext cx="9125712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교시 목표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1856232"/>
            <a:ext cx="3343656" cy="20116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020824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2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 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42416" y="2313432"/>
            <a:ext cx="290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4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개로 팀 구성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42416" y="2816352"/>
            <a:ext cx="290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검증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번역을 해주는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역할별 팀 </a:t>
            </a:r>
            <a:r>
              <a:rPr lang="ko-KR" altLang="en-US" sz="12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22648" y="1856232"/>
            <a:ext cx="3343656" cy="20116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2104" y="2020824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2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 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42104" y="2313432"/>
            <a:ext cx="290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42104" y="2816352"/>
            <a:ext cx="290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하나로 팀 전체를 지휘하는 방식 익히기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22336" y="1856232"/>
            <a:ext cx="3343656" cy="20116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1792" y="2020824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2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 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41792" y="2313432"/>
            <a:ext cx="290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격리 체험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41792" y="2816352"/>
            <a:ext cx="290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 프롬프트에 맥락을 전부 담아야 하는 이유의 확인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651760" y="649224"/>
            <a:ext cx="8714232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 —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절차를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agent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종합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59" y="1719072"/>
            <a:ext cx="10945707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실습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방식의 한계 — 순차적으로 처리해야 하는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subagent가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4개가 되면 네 번 지시하고, 앞 결과를 다음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subagent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직접 옮기는 비효율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 — 메인에게 절차 전체를 한 번에 주고,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분해(어떤 단계로) → 위임(누구에게 무엇을 들려 보낼지) → 종합(하나의 결과로)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맡기는 방식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 프롬프트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메인이 subagent에게 업무를 위임하고 지시할 때 사용하는 작업 지시문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1" name="D901"/>
          <p:cNvSpPr/>
          <p:nvPr/>
        </p:nvSpPr>
        <p:spPr>
          <a:xfrm>
            <a:off x="783675" y="3742301"/>
            <a:ext cx="10543032" cy="27432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22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방식 </a:t>
            </a:r>
            <a:r>
              <a:rPr kumimoji="0" lang="en-US" altLang="ko-KR" sz="1400" b="1" i="0" u="none" strike="noStrike" kern="0" cap="none" spc="22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kumimoji="0" lang="ko-KR" altLang="en-US" sz="1400" b="1" i="0" u="none" strike="noStrike" kern="0" cap="none" spc="22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수동 릴레이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2" name="D902"/>
          <p:cNvSpPr/>
          <p:nvPr/>
        </p:nvSpPr>
        <p:spPr>
          <a:xfrm>
            <a:off x="5210895" y="4652335"/>
            <a:ext cx="1600200" cy="4114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  <p:txBody>
          <a:bodyPr wrap="square" lIns="45720" tIns="18288" rIns="45720" bIns="1828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3" name="D903"/>
          <p:cNvSpPr/>
          <p:nvPr/>
        </p:nvSpPr>
        <p:spPr>
          <a:xfrm>
            <a:off x="753195" y="5672335"/>
            <a:ext cx="2286000" cy="4114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  <p:txBody>
          <a:bodyPr wrap="square" lIns="45720" tIns="18288" rIns="45720" bIns="1828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A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4" name="D904"/>
          <p:cNvSpPr/>
          <p:nvPr/>
        </p:nvSpPr>
        <p:spPr>
          <a:xfrm>
            <a:off x="3496395" y="5672335"/>
            <a:ext cx="2286000" cy="4114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  <p:txBody>
          <a:bodyPr wrap="square" lIns="45720" tIns="18288" rIns="45720" bIns="1828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B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5" name="D905"/>
          <p:cNvSpPr/>
          <p:nvPr/>
        </p:nvSpPr>
        <p:spPr>
          <a:xfrm>
            <a:off x="6239595" y="5672335"/>
            <a:ext cx="2286000" cy="4114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  <p:txBody>
          <a:bodyPr wrap="square" lIns="45720" tIns="18288" rIns="45720" bIns="1828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C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6" name="D906"/>
          <p:cNvSpPr/>
          <p:nvPr/>
        </p:nvSpPr>
        <p:spPr>
          <a:xfrm>
            <a:off x="8982795" y="5672335"/>
            <a:ext cx="2286000" cy="4114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  <p:txBody>
          <a:bodyPr wrap="square" lIns="45720" tIns="18288" rIns="45720" bIns="1828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07" name="C907"/>
          <p:cNvCxnSpPr/>
          <p:nvPr/>
        </p:nvCxnSpPr>
        <p:spPr>
          <a:xfrm flipH="1">
            <a:off x="1896195" y="5063815"/>
            <a:ext cx="4114800" cy="608520"/>
          </a:xfrm>
          <a:prstGeom prst="line">
            <a:avLst/>
          </a:prstGeom>
          <a:ln w="12700">
            <a:solidFill>
              <a:srgbClr val="ADA79A"/>
            </a:solidFill>
            <a:tailEnd type="triangle" w="med" len="med"/>
          </a:ln>
        </p:spPr>
      </p:cxnSp>
      <p:cxnSp>
        <p:nvCxnSpPr>
          <p:cNvPr id="908" name="C908"/>
          <p:cNvCxnSpPr/>
          <p:nvPr/>
        </p:nvCxnSpPr>
        <p:spPr>
          <a:xfrm flipH="1">
            <a:off x="4639395" y="5063815"/>
            <a:ext cx="1371600" cy="608520"/>
          </a:xfrm>
          <a:prstGeom prst="line">
            <a:avLst/>
          </a:prstGeom>
          <a:ln w="12700">
            <a:solidFill>
              <a:srgbClr val="ADA79A"/>
            </a:solidFill>
            <a:tailEnd type="triangle" w="med" len="med"/>
          </a:ln>
        </p:spPr>
      </p:cxnSp>
      <p:cxnSp>
        <p:nvCxnSpPr>
          <p:cNvPr id="909" name="C909"/>
          <p:cNvCxnSpPr/>
          <p:nvPr/>
        </p:nvCxnSpPr>
        <p:spPr>
          <a:xfrm>
            <a:off x="6010995" y="5063815"/>
            <a:ext cx="1371600" cy="608520"/>
          </a:xfrm>
          <a:prstGeom prst="line">
            <a:avLst/>
          </a:prstGeom>
          <a:ln w="12700">
            <a:solidFill>
              <a:srgbClr val="ADA79A"/>
            </a:solidFill>
            <a:tailEnd type="triangle" w="med" len="med"/>
          </a:ln>
        </p:spPr>
      </p:cxnSp>
      <p:cxnSp>
        <p:nvCxnSpPr>
          <p:cNvPr id="910" name="C910"/>
          <p:cNvCxnSpPr/>
          <p:nvPr/>
        </p:nvCxnSpPr>
        <p:spPr>
          <a:xfrm>
            <a:off x="6010995" y="5063815"/>
            <a:ext cx="4114800" cy="608520"/>
          </a:xfrm>
          <a:prstGeom prst="line">
            <a:avLst/>
          </a:prstGeom>
          <a:ln w="12700">
            <a:solidFill>
              <a:srgbClr val="ADA79A"/>
            </a:solidFill>
            <a:tailEnd type="triangle" w="med" len="med"/>
          </a:ln>
        </p:spPr>
      </p:cxnSp>
      <p:cxnSp>
        <p:nvCxnSpPr>
          <p:cNvPr id="911" name="C911"/>
          <p:cNvCxnSpPr/>
          <p:nvPr/>
        </p:nvCxnSpPr>
        <p:spPr>
          <a:xfrm>
            <a:off x="3084915" y="5878075"/>
            <a:ext cx="365760" cy="0"/>
          </a:xfrm>
          <a:prstGeom prst="line">
            <a:avLst/>
          </a:prstGeom>
          <a:ln w="12700">
            <a:solidFill>
              <a:srgbClr val="FFD733"/>
            </a:solidFill>
            <a:prstDash val="dash"/>
            <a:tailEnd type="triangle" w="med" len="med"/>
          </a:ln>
        </p:spPr>
      </p:cxnSp>
      <p:cxnSp>
        <p:nvCxnSpPr>
          <p:cNvPr id="912" name="C912"/>
          <p:cNvCxnSpPr/>
          <p:nvPr/>
        </p:nvCxnSpPr>
        <p:spPr>
          <a:xfrm>
            <a:off x="5828115" y="5878075"/>
            <a:ext cx="365760" cy="0"/>
          </a:xfrm>
          <a:prstGeom prst="line">
            <a:avLst/>
          </a:prstGeom>
          <a:ln w="12700">
            <a:solidFill>
              <a:srgbClr val="FFD733"/>
            </a:solidFill>
            <a:prstDash val="dash"/>
            <a:tailEnd type="triangle" w="med" len="med"/>
          </a:ln>
        </p:spPr>
      </p:cxnSp>
      <p:cxnSp>
        <p:nvCxnSpPr>
          <p:cNvPr id="913" name="C913"/>
          <p:cNvCxnSpPr/>
          <p:nvPr/>
        </p:nvCxnSpPr>
        <p:spPr>
          <a:xfrm>
            <a:off x="8571315" y="5878075"/>
            <a:ext cx="365760" cy="0"/>
          </a:xfrm>
          <a:prstGeom prst="line">
            <a:avLst/>
          </a:prstGeom>
          <a:ln w="12700">
            <a:solidFill>
              <a:srgbClr val="FFD733"/>
            </a:solidFill>
            <a:prstDash val="dash"/>
            <a:tailEnd type="triangle" w="med" len="med"/>
          </a:ln>
        </p:spPr>
      </p:cxnSp>
      <p:sp>
        <p:nvSpPr>
          <p:cNvPr id="914" name="D914"/>
          <p:cNvSpPr/>
          <p:nvPr/>
        </p:nvSpPr>
        <p:spPr>
          <a:xfrm>
            <a:off x="783675" y="4133953"/>
            <a:ext cx="5044440" cy="27432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작업이 필요하면 지시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결과는 사용자가 복사해 다음에 전달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651760" y="649224"/>
            <a:ext cx="8714232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 — 동작 구조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5" name="D915"/>
          <p:cNvSpPr/>
          <p:nvPr/>
        </p:nvSpPr>
        <p:spPr>
          <a:xfrm>
            <a:off x="5295900" y="1700000"/>
            <a:ext cx="1600200" cy="4114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  <p:txBody>
          <a:bodyPr wrap="square" lIns="45720" tIns="18288" rIns="45720" bIns="1828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6" name="C916"/>
          <p:cNvCxnSpPr/>
          <p:nvPr/>
        </p:nvCxnSpPr>
        <p:spPr>
          <a:xfrm>
            <a:off x="6096000" y="2111480"/>
            <a:ext cx="0" cy="428520"/>
          </a:xfrm>
          <a:prstGeom prst="line">
            <a:avLst/>
          </a:prstGeom>
          <a:ln w="12700">
            <a:solidFill>
              <a:srgbClr val="ADA79A"/>
            </a:solidFill>
            <a:tailEnd type="triangle" w="med" len="med"/>
          </a:ln>
        </p:spPr>
      </p:cxnSp>
      <p:sp>
        <p:nvSpPr>
          <p:cNvPr id="917" name="D917"/>
          <p:cNvSpPr/>
          <p:nvPr/>
        </p:nvSpPr>
        <p:spPr>
          <a:xfrm>
            <a:off x="6276000" y="2170000"/>
            <a:ext cx="1600200" cy="27432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8" name="D918"/>
          <p:cNvSpPr/>
          <p:nvPr/>
        </p:nvSpPr>
        <p:spPr>
          <a:xfrm>
            <a:off x="4610100" y="2540000"/>
            <a:ext cx="2971800" cy="594360"/>
          </a:xfrm>
          <a:prstGeom prst="rect">
            <a:avLst/>
          </a:prstGeom>
          <a:solidFill>
            <a:srgbClr val="1C1913"/>
          </a:solidFill>
          <a:ln w="9525">
            <a:solidFill>
              <a:srgbClr val="FFD733"/>
            </a:solidFill>
            <a:prstDash val="solid"/>
          </a:ln>
        </p:spPr>
        <p:txBody>
          <a:bodyPr wrap="square" lIns="45720" tIns="18288" rIns="45720" bIns="18288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에이전트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9" name="C919"/>
          <p:cNvCxnSpPr/>
          <p:nvPr/>
        </p:nvCxnSpPr>
        <p:spPr>
          <a:xfrm flipH="1">
            <a:off x="3352800" y="3134360"/>
            <a:ext cx="2743200" cy="625640"/>
          </a:xfrm>
          <a:prstGeom prst="line">
            <a:avLst/>
          </a:prstGeom>
          <a:ln w="12700">
            <a:solidFill>
              <a:srgbClr val="ADA79A"/>
            </a:solidFill>
            <a:tailEnd type="triangle" w="med" len="med"/>
          </a:ln>
        </p:spPr>
      </p:cxnSp>
      <p:cxnSp>
        <p:nvCxnSpPr>
          <p:cNvPr id="920" name="C920"/>
          <p:cNvCxnSpPr/>
          <p:nvPr/>
        </p:nvCxnSpPr>
        <p:spPr>
          <a:xfrm>
            <a:off x="6096000" y="3134360"/>
            <a:ext cx="0" cy="625640"/>
          </a:xfrm>
          <a:prstGeom prst="line">
            <a:avLst/>
          </a:prstGeom>
          <a:ln w="12700">
            <a:solidFill>
              <a:srgbClr val="ADA79A"/>
            </a:solidFill>
            <a:tailEnd type="triangle" w="med" len="med"/>
          </a:ln>
        </p:spPr>
      </p:cxnSp>
      <p:cxnSp>
        <p:nvCxnSpPr>
          <p:cNvPr id="921" name="C921"/>
          <p:cNvCxnSpPr/>
          <p:nvPr/>
        </p:nvCxnSpPr>
        <p:spPr>
          <a:xfrm>
            <a:off x="6096000" y="3134360"/>
            <a:ext cx="2743200" cy="625640"/>
          </a:xfrm>
          <a:prstGeom prst="line">
            <a:avLst/>
          </a:prstGeom>
          <a:ln w="12700">
            <a:solidFill>
              <a:srgbClr val="ADA79A"/>
            </a:solidFill>
            <a:tailEnd type="triangle" w="med" len="med"/>
          </a:ln>
        </p:spPr>
      </p:cxnSp>
      <p:sp>
        <p:nvSpPr>
          <p:cNvPr id="922" name="D922"/>
          <p:cNvSpPr/>
          <p:nvPr/>
        </p:nvSpPr>
        <p:spPr>
          <a:xfrm>
            <a:off x="6276000" y="3320000"/>
            <a:ext cx="1200000" cy="27432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" name="D923"/>
          <p:cNvSpPr/>
          <p:nvPr/>
        </p:nvSpPr>
        <p:spPr>
          <a:xfrm>
            <a:off x="2209800" y="3760000"/>
            <a:ext cx="2286000" cy="4114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  <p:txBody>
          <a:bodyPr wrap="square" lIns="45720" tIns="18288" rIns="45720" bIns="1828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A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4" name="D924"/>
          <p:cNvSpPr/>
          <p:nvPr/>
        </p:nvSpPr>
        <p:spPr>
          <a:xfrm>
            <a:off x="4953000" y="3760000"/>
            <a:ext cx="2286000" cy="4114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  <p:txBody>
          <a:bodyPr wrap="square" lIns="45720" tIns="18288" rIns="45720" bIns="1828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B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5" name="D925"/>
          <p:cNvSpPr/>
          <p:nvPr/>
        </p:nvSpPr>
        <p:spPr>
          <a:xfrm>
            <a:off x="7696200" y="3760000"/>
            <a:ext cx="2286000" cy="4114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  <p:txBody>
          <a:bodyPr wrap="square" lIns="45720" tIns="18288" rIns="45720" bIns="1828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C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26" name="C926"/>
          <p:cNvCxnSpPr/>
          <p:nvPr/>
        </p:nvCxnSpPr>
        <p:spPr>
          <a:xfrm>
            <a:off x="3352800" y="4171480"/>
            <a:ext cx="2593200" cy="628520"/>
          </a:xfrm>
          <a:prstGeom prst="line">
            <a:avLst/>
          </a:prstGeom>
          <a:ln w="12700">
            <a:solidFill>
              <a:srgbClr val="ADA79A"/>
            </a:solidFill>
            <a:tailEnd type="triangle" w="med" len="med"/>
          </a:ln>
        </p:spPr>
      </p:cxnSp>
      <p:cxnSp>
        <p:nvCxnSpPr>
          <p:cNvPr id="927" name="C927"/>
          <p:cNvCxnSpPr/>
          <p:nvPr/>
        </p:nvCxnSpPr>
        <p:spPr>
          <a:xfrm>
            <a:off x="6096000" y="4171480"/>
            <a:ext cx="0" cy="628520"/>
          </a:xfrm>
          <a:prstGeom prst="line">
            <a:avLst/>
          </a:prstGeom>
          <a:ln w="12700">
            <a:solidFill>
              <a:srgbClr val="ADA79A"/>
            </a:solidFill>
            <a:tailEnd type="triangle" w="med" len="med"/>
          </a:ln>
        </p:spPr>
      </p:cxnSp>
      <p:cxnSp>
        <p:nvCxnSpPr>
          <p:cNvPr id="928" name="C928"/>
          <p:cNvCxnSpPr/>
          <p:nvPr/>
        </p:nvCxnSpPr>
        <p:spPr>
          <a:xfrm flipH="1">
            <a:off x="6246000" y="4171480"/>
            <a:ext cx="2593200" cy="628520"/>
          </a:xfrm>
          <a:prstGeom prst="line">
            <a:avLst/>
          </a:prstGeom>
          <a:ln w="12700">
            <a:solidFill>
              <a:srgbClr val="ADA79A"/>
            </a:solidFill>
            <a:tailEnd type="triangle" w="med" len="med"/>
          </a:ln>
        </p:spPr>
      </p:cxnSp>
      <p:sp>
        <p:nvSpPr>
          <p:cNvPr id="929" name="D929"/>
          <p:cNvSpPr/>
          <p:nvPr/>
        </p:nvSpPr>
        <p:spPr>
          <a:xfrm>
            <a:off x="6276000" y="4420000"/>
            <a:ext cx="1200000" cy="27432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0" name="D930"/>
          <p:cNvSpPr/>
          <p:nvPr/>
        </p:nvSpPr>
        <p:spPr>
          <a:xfrm>
            <a:off x="5124450" y="4800000"/>
            <a:ext cx="1943100" cy="41148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  <p:txBody>
          <a:bodyPr wrap="square" lIns="45720" tIns="18288" rIns="45720" bIns="1828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결과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1" name="D931"/>
          <p:cNvSpPr/>
          <p:nvPr/>
        </p:nvSpPr>
        <p:spPr>
          <a:xfrm>
            <a:off x="822960" y="5560000"/>
            <a:ext cx="10543032" cy="59436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메인은 기본적으로 자동 위임 수행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description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맞는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자동 호출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작업은 병렬 실행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종합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651760" y="649224"/>
            <a:ext cx="8714232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 프롬프트 3원칙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105430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없이도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메인은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서브에이전트에게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자동 위임 수행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 관련 작업이 실행마다 달라질 수 있음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>
              <a:lnSpc>
                <a:spcPct val="128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프롬프트의 역할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28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 전체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 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 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</a:t>
            </a:r>
            <a:r>
              <a:rPr lang="en-US" altLang="ko-KR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명시해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실행해도 같은 절차와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형식의 결과를 보장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하도록 사용자가 메인에게  전달하는 </a:t>
            </a:r>
            <a:r>
              <a:rPr lang="ko-KR" altLang="en-US" sz="14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</a:t>
            </a:r>
            <a:endParaRPr lang="en-US" altLang="ko-KR" sz="1400" dirty="0">
              <a:solidFill>
                <a:prstClr val="black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3593592"/>
            <a:ext cx="3343656" cy="150876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3758184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2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1 · 위임(누구에게)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42416" y="4050792"/>
            <a:ext cx="290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명시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42416" y="4553712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단계마다 담당 subagent 이름을 명시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22648" y="3593592"/>
            <a:ext cx="3343656" cy="150876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2104" y="3758184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2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2 · </a:t>
            </a:r>
            <a:r>
              <a:rPr kumimoji="0" lang="en-US" sz="850" b="1" i="0" u="none" strike="noStrike" kern="0" cap="none" spc="22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</a:t>
            </a:r>
            <a:r>
              <a:rPr kumimoji="0" lang="en-US" sz="850" b="1" i="0" u="none" strike="noStrike" kern="0" cap="none" spc="22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850" b="1" kern="0" spc="2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구체적인 작업 기준</a:t>
            </a:r>
            <a:r>
              <a:rPr kumimoji="0" lang="en-US" sz="850" b="1" i="0" u="none" strike="noStrike" kern="0" cap="none" spc="22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42104" y="4050792"/>
            <a:ext cx="290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포함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42104" y="4553712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단계에 파일 경로와 판단 기준을 포함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22336" y="3593592"/>
            <a:ext cx="3343656" cy="150876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1792" y="3758184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2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3 · 종합(형식)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41792" y="4050792"/>
            <a:ext cx="2904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지시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41792" y="4553712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마지막에 결과 종합 형식을 지시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5285232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DA79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프롬프트가 이 세 가지를 어떻게 구현했는지 실행 전에 확인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374136" y="649224"/>
            <a:ext cx="7991856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51426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4484" y="1720595"/>
            <a:ext cx="10543032" cy="5027333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4484" y="1720596"/>
            <a:ext cx="54864" cy="5027332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9" name="Text 7"/>
          <p:cNvSpPr/>
          <p:nvPr/>
        </p:nvSpPr>
        <p:spPr>
          <a:xfrm>
            <a:off x="1080516" y="1848612"/>
            <a:ext cx="10085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— </a:t>
            </a:r>
            <a:r>
              <a:rPr kumimoji="0" lang="en-US" sz="1050" b="1" i="0" u="none" strike="noStrike" kern="0" cap="none" spc="2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80516" y="2141219"/>
            <a:ext cx="10030968" cy="45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.</a:t>
            </a:r>
            <a:r>
              <a:rPr lang="en-US" altLang="ko-KR" sz="1000" dirty="0" err="1">
                <a:solidFill>
                  <a:srgbClr val="F7F4EC"/>
                </a:solidFill>
                <a:latin typeface="+mn-ea"/>
                <a:cs typeface="Malgun Gothic" pitchFamily="34" charset="-120"/>
              </a:rPr>
              <a:t>claude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/agents/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폴더에 아래 지시대로 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subagent 3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개를 만들어줘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.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각 파일은 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name · description · tools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를 담은 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YAML frontmatter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와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,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그 아래 본문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(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시스템 프롬프트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)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으로 구성해줘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.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실습이니까 아래 지시 그대로 파일을 바로 생성해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.</a:t>
            </a:r>
          </a:p>
          <a:p>
            <a:pPr lvl="0">
              <a:lnSpc>
                <a:spcPct val="132000"/>
              </a:lnSpc>
              <a:defRPr/>
            </a:pPr>
            <a:endParaRPr lang="en-US" altLang="ko-KR" sz="1000" dirty="0">
              <a:solidFill>
                <a:srgbClr val="F7F4EC"/>
              </a:solidFill>
              <a:latin typeface="+mn-ea"/>
              <a:cs typeface="Malgun Gothic" pitchFamily="34" charset="-120"/>
            </a:endParaRPr>
          </a:p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① fact-checker.md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- name: fact-checker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- description: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문서 내 수치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·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날짜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·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합계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·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건수의 정합성 검증이나 두 문서 간 교차 확인이 필요할 때 반드시 사용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- tools: Read, Grep, Glob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-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본문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: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정합성 검증 전문가로서 금액 합산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,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날짜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·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요일 일치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, N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건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/N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명 표기와 실제 개수 일치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,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비율 계산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,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문서 간 수치 일치를 점검하고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,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어긋난 항목을 근거와 함께 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[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확인 필요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]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목록으로 보고한다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.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문서를 수정하지 않는다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.</a:t>
            </a:r>
          </a:p>
          <a:p>
            <a:pPr lvl="0">
              <a:lnSpc>
                <a:spcPct val="132000"/>
              </a:lnSpc>
              <a:defRPr/>
            </a:pPr>
            <a:endParaRPr lang="en-US" altLang="ko-KR" sz="1000" dirty="0">
              <a:solidFill>
                <a:srgbClr val="F7F4EC"/>
              </a:solidFill>
              <a:latin typeface="+mn-ea"/>
              <a:cs typeface="Malgun Gothic" pitchFamily="34" charset="-120"/>
            </a:endParaRPr>
          </a:p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② critic.md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- name: critic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- description: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문서의 논리적 약점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·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근거 부족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·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모호한 표현의 비판적 검토가 필요할 때 사용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- tools: Read, Grep, Glob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-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본문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: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냉정한 비평가로서 칭찬 없이 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(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원문 인용 → 문제점 → 개선 방향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)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형식으로 중요한 순서대로 최대 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5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개 지적한다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.</a:t>
            </a:r>
          </a:p>
          <a:p>
            <a:pPr lvl="0">
              <a:lnSpc>
                <a:spcPct val="132000"/>
              </a:lnSpc>
              <a:defRPr/>
            </a:pPr>
            <a:endParaRPr lang="en-US" altLang="ko-KR" sz="1000" dirty="0">
              <a:solidFill>
                <a:srgbClr val="F7F4EC"/>
              </a:solidFill>
              <a:latin typeface="+mn-ea"/>
              <a:cs typeface="Malgun Gothic" pitchFamily="34" charset="-120"/>
            </a:endParaRPr>
          </a:p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③ translator.md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- name: translator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- description: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한국어 문서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·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요약을 영어로 번역할 때 사용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- tools: Read, Grep, Glob, Write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-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본문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: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과학기술 문서 전문 </a:t>
            </a:r>
            <a:r>
              <a:rPr lang="ko-KR" altLang="en-US" sz="1000" dirty="0" err="1">
                <a:solidFill>
                  <a:srgbClr val="F7F4EC"/>
                </a:solidFill>
                <a:latin typeface="+mn-ea"/>
                <a:cs typeface="Malgun Gothic" pitchFamily="34" charset="-120"/>
              </a:rPr>
              <a:t>한→영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 번역가로서 격식 있는 학술 영어로 번역하고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, </a:t>
            </a: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번역문만 출력한다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.</a:t>
            </a:r>
          </a:p>
          <a:p>
            <a:pPr lvl="0">
              <a:lnSpc>
                <a:spcPct val="132000"/>
              </a:lnSpc>
              <a:defRPr/>
            </a:pPr>
            <a:r>
              <a:rPr lang="ko-KR" altLang="en-US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다 만든 뒤 세 파일의 전체 내용을 그대로 보여줘</a:t>
            </a:r>
            <a:r>
              <a:rPr lang="en-US" altLang="ko-KR" sz="1000" dirty="0">
                <a:solidFill>
                  <a:srgbClr val="F7F4EC"/>
                </a:solidFill>
                <a:latin typeface="+mn-ea"/>
                <a:cs typeface="Malgun Gothic" pitchFamily="34" charset="-120"/>
              </a:rPr>
              <a:t>.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59" y="1280835"/>
            <a:ext cx="1116584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다른 세 subagent 생성 프롬프트 — 검증(수치) · 비평(논리) · 번역(언어) · 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수업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doc-summarizer 포함 총 4개 에이전트 구성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CDBE4-A5A0-B6EF-F0EA-5318BE1BA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9877CAA1-CA6E-EE90-3145-83721F87B4D8}"/>
              </a:ext>
            </a:extLst>
          </p:cNvPr>
          <p:cNvSpPr/>
          <p:nvPr/>
        </p:nvSpPr>
        <p:spPr>
          <a:xfrm>
            <a:off x="3374136" y="649224"/>
            <a:ext cx="7991856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336803D-C545-8E07-7DC0-022AFFB2E782}"/>
              </a:ext>
            </a:extLst>
          </p:cNvPr>
          <p:cNvSpPr/>
          <p:nvPr/>
        </p:nvSpPr>
        <p:spPr>
          <a:xfrm>
            <a:off x="822960" y="651426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생성된 것 확인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7945A81-34D8-272F-A513-ADE63900BC10}"/>
              </a:ext>
            </a:extLst>
          </p:cNvPr>
          <p:cNvSpPr/>
          <p:nvPr/>
        </p:nvSpPr>
        <p:spPr>
          <a:xfrm>
            <a:off x="822959" y="1280835"/>
            <a:ext cx="11165841" cy="46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/agents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디렉토리 하단에 위치해야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에이전트로 인식하고 사용함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0ED5E2-F2B4-6B35-CAB6-BB602619E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444" y="2679084"/>
            <a:ext cx="4666162" cy="2019915"/>
          </a:xfrm>
          <a:prstGeom prst="rect">
            <a:avLst/>
          </a:prstGeom>
          <a:ln>
            <a:solidFill>
              <a:srgbClr val="FFD733"/>
            </a:solidFill>
          </a:ln>
        </p:spPr>
      </p:pic>
    </p:spTree>
    <p:extLst>
      <p:ext uri="{BB962C8B-B14F-4D97-AF65-F5344CB8AC3E}">
        <p14:creationId xmlns:p14="http://schemas.microsoft.com/office/powerpoint/2010/main" val="2364947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374136" y="649224"/>
            <a:ext cx="7991856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 프롬프트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04427" y="2093976"/>
            <a:ext cx="6400800" cy="397764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427" y="2093976"/>
            <a:ext cx="45720" cy="397764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9" name="Text 7"/>
          <p:cNvSpPr/>
          <p:nvPr/>
        </p:nvSpPr>
        <p:spPr>
          <a:xfrm>
            <a:off x="960459" y="22219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— ORCHESTRATION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459" y="2514600"/>
            <a:ext cx="588873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32000"/>
              </a:lnSpc>
              <a:defRPr/>
            </a:pP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절차로 처리해줘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doc-summarizer subagent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docs/report_A_quantum.txt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</a:t>
            </a:r>
          </a:p>
          <a:p>
            <a:pPr lvl="0">
              <a:lnSpc>
                <a:spcPct val="132000"/>
              </a:lnSpc>
              <a:defRPr/>
            </a:pP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docs/report_B_quantum.txt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각각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이내로 요약</a:t>
            </a:r>
          </a:p>
          <a:p>
            <a:pPr lvl="0">
              <a:lnSpc>
                <a:spcPct val="132000"/>
              </a:lnSpc>
              <a:defRPr/>
            </a:pP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fact-checker subagent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두 보고서의 수치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날짜가</a:t>
            </a:r>
          </a:p>
          <a:p>
            <a:pPr lvl="0">
              <a:lnSpc>
                <a:spcPct val="132000"/>
              </a:lnSpc>
              <a:defRPr/>
            </a:pP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서로 일치하는지 교차검증</a:t>
            </a:r>
          </a:p>
          <a:p>
            <a:pPr lvl="0">
              <a:lnSpc>
                <a:spcPct val="132000"/>
              </a:lnSpc>
              <a:defRPr/>
            </a:pP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 subagent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보고서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논리적 약점 지적</a:t>
            </a:r>
            <a:endParaRPr lang="en-US" altLang="ko-KR" sz="105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0">
              <a:lnSpc>
                <a:spcPct val="132000"/>
              </a:lnSpc>
              <a:defRPr/>
            </a:pPr>
            <a:endParaRPr lang="ko-KR" altLang="en-US" sz="105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0">
              <a:lnSpc>
                <a:spcPct val="132000"/>
              </a:lnSpc>
              <a:defRPr/>
            </a:pP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끝나면 세 결과를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→ 교차검증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([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→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 지적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</a:p>
          <a:p>
            <a:pPr lvl="0">
              <a:lnSpc>
                <a:spcPct val="132000"/>
              </a:lnSpc>
              <a:defRPr/>
            </a:pP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순서의 검토 보고서 하나로 종합하고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보고서를 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translator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해외 협력기관에 보낼 이메일 본문 형식의 영어</a:t>
            </a:r>
          </a:p>
          <a:p>
            <a:pPr lvl="0">
              <a:lnSpc>
                <a:spcPct val="132000"/>
              </a:lnSpc>
              <a:defRPr/>
            </a:pP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브리핑으로 번역해서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보고서와 영어 브리핑을 함께 보고해줘</a:t>
            </a:r>
            <a:r>
              <a:rPr lang="en-US" altLang="ko-KR" sz="10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43800" y="2093976"/>
            <a:ext cx="382219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분해된 단계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(①~③)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종합 방식을 메인에게 한 번에 전달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위임 → 전달 → 종합은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메인이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수행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sz="115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명시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단계마다 담당을 지정해 누가 맡을지 고정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같은 에이전트 구성 보장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알아서 맡기면 매번 다를 수 있음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sz="115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lvl="0" indent="-171450">
              <a:lnSpc>
                <a:spcPct val="128000"/>
              </a:lnSpc>
              <a:spcAft>
                <a:spcPts val="11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경로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포함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경로와 작업 기준을 단계 안에 명시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실행할 때마다 같은 형식으로 결과 출력되도록 지시</a:t>
            </a:r>
            <a:r>
              <a:rPr lang="en-US" altLang="ko-KR" sz="11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새로 만들어지는 </a:t>
            </a:r>
            <a:r>
              <a:rPr lang="en-US" altLang="ko-KR" sz="11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ko-KR" altLang="en-US" sz="11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에게는 위임 프롬프트가 아는 것의 전부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방식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①~③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서로 결과가 필요 없는 독립 작업이라 병렬 가능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종합과 번역은 앞 결과가 필요해 순차실행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판단은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메인이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수행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1C0DF1-9232-F318-E6DD-D7FC8C76F054}"/>
              </a:ext>
            </a:extLst>
          </p:cNvPr>
          <p:cNvSpPr txBox="1"/>
          <p:nvPr/>
        </p:nvSpPr>
        <p:spPr>
          <a:xfrm>
            <a:off x="704427" y="1444984"/>
            <a:ext cx="6096000" cy="29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</a:t>
            </a:r>
            <a:r>
              <a:rPr kumimoji="0" lang="ko-KR" altLang="en-US" sz="11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채팅방에서 실습 폴더 지정하고 아래 프롬프트 입력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675888" y="649224"/>
            <a:ext cx="7690104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관찰할 것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673352"/>
            <a:ext cx="5273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메인이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절차를 받아 단계마다 알맞은 subagent를 배분하고 마지막에 종합하는 흐름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작업(②와 ③)이 동시에 도는 것 — 병렬 실행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병렬의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조건 —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서로의 결과가 필요 없는 독립 작업만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동시 실행 가능.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종합과</a:t>
            </a:r>
            <a:r>
              <a:rPr lang="ko-KR" altLang="en-US" sz="125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번역처럼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앞 결과가 필요한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단계는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필요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subagent는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기본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실행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우측 상단 메뉴에서 확인 가능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82173" y="621792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 → 병렬 위임 → 종합 진행 화면 캡처 삽입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BD14483-D7B3-FC70-E7B1-0A5739928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509" y="1320806"/>
            <a:ext cx="5789272" cy="480229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BC55DA8-47C3-B261-F155-3B5A67FC9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601" y="3867912"/>
            <a:ext cx="1544250" cy="25112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404872" y="649224"/>
            <a:ext cx="8961120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검출해야 할 오류 4건(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822960" y="1719072"/>
          <a:ext cx="10543032" cy="23774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실증 착수 시점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2026년 9월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2026년 11월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 민간 투자액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42억 달러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45억 달러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논리 큐비트 오류율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총사업비 합계 (B 내부 오류)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5,700억 ≠ 3,500억 + 1,200억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374136" y="649224"/>
            <a:ext cx="7991856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— 컨텍스트 격리 확인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1673352"/>
            <a:ext cx="10543032" cy="80010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73352"/>
            <a:ext cx="45720" cy="80010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1801368"/>
            <a:ext cx="10085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— 실험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8992" y="2093976"/>
            <a:ext cx="10030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fact-checker subagent에게 아까 그 문서 다시 확인하라고 해줘.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1" name="T961"/>
          <p:cNvSpPr/>
          <p:nvPr/>
        </p:nvSpPr>
        <p:spPr>
          <a:xfrm>
            <a:off x="822959" y="2539999"/>
            <a:ext cx="10894907" cy="1007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30000"/>
              </a:lnSpc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사용자가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14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이야기한 이전</a:t>
            </a:r>
            <a:r>
              <a:rPr lang="ko-KR" altLang="en-US" sz="14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맥락을 모름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메인이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사용자가 요청한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아까 그 문서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＇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뭔지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파악하고 </a:t>
            </a:r>
            <a:r>
              <a:rPr lang="ko-KR" altLang="en-US" sz="14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 프롬프트에 파일명과 이전 결과를 다시 담아 전달 </a:t>
            </a:r>
            <a:endParaRPr lang="en-US" altLang="ko-KR" sz="1400" dirty="0">
              <a:solidFill>
                <a:srgbClr val="D5D0C4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메인이</a:t>
            </a:r>
            <a:r>
              <a:rPr lang="ko-KR" altLang="en-US" sz="14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“</a:t>
            </a:r>
            <a:r>
              <a:rPr lang="ko-KR" altLang="en-US" sz="1400" dirty="0" err="1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서브에이전트에</a:t>
            </a:r>
            <a:r>
              <a:rPr lang="ko-KR" altLang="en-US" sz="14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~</a:t>
            </a:r>
            <a:r>
              <a:rPr lang="ko-KR" altLang="en-US" sz="1400" dirty="0" err="1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ko-KR" altLang="en-US" sz="14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전달해 요청” 형태로 작업 과정을 말해 줌</a:t>
            </a:r>
            <a:endParaRPr lang="en-US" altLang="ko-KR" sz="1400" dirty="0">
              <a:solidFill>
                <a:prstClr val="black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D3B1BA-6366-1875-AF01-836625BDA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293" y="3642784"/>
            <a:ext cx="8397450" cy="2300816"/>
          </a:xfrm>
          <a:prstGeom prst="rect">
            <a:avLst/>
          </a:prstGeom>
        </p:spPr>
      </p:pic>
      <p:sp>
        <p:nvSpPr>
          <p:cNvPr id="12" name="T961">
            <a:extLst>
              <a:ext uri="{FF2B5EF4-FFF2-40B4-BE49-F238E27FC236}">
                <a16:creationId xmlns:a16="http://schemas.microsoft.com/office/drawing/2014/main" id="{F54FFE01-7183-0645-BC8A-3DF01EF838B1}"/>
              </a:ext>
            </a:extLst>
          </p:cNvPr>
          <p:cNvSpPr/>
          <p:nvPr/>
        </p:nvSpPr>
        <p:spPr>
          <a:xfrm>
            <a:off x="868680" y="6071616"/>
            <a:ext cx="10894907" cy="33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30000"/>
              </a:lnSpc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*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subagent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resume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기능으로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이전에 자기가 작업했던 내용을 기억할 수 있음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넘어가기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4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816352" y="649224"/>
            <a:ext cx="8549640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시에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subagent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컨텍스트에 주입되는 요소들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4960000"/>
            <a:ext cx="10543032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팁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맡길 일에 필요한 파일 경로 · 기준 · 결정사항은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안에 전부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담을 것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translator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에이전트가 종합 결과를 알 수 있었던 이유 = 메인이 종합문을 위임 프롬프트에 통째로 담아 넘겼기 때문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2" name="R972"/>
          <p:cNvSpPr/>
          <p:nvPr/>
        </p:nvSpPr>
        <p:spPr>
          <a:xfrm>
            <a:off x="822960" y="2080000"/>
            <a:ext cx="3343656" cy="175000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973" name="T973"/>
          <p:cNvSpPr/>
          <p:nvPr/>
        </p:nvSpPr>
        <p:spPr>
          <a:xfrm>
            <a:off x="1042416" y="2244592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</a:t>
            </a:r>
            <a:r>
              <a:rPr kumimoji="0" lang="ko-KR" alt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4" name="T974"/>
          <p:cNvSpPr/>
          <p:nvPr/>
        </p:nvSpPr>
        <p:spPr>
          <a:xfrm>
            <a:off x="1042416" y="253720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</a:t>
            </a:r>
            <a:r>
              <a:rPr lang="ko-KR" altLang="en-US" sz="13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정의 파일 본문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5" name="T975"/>
          <p:cNvSpPr/>
          <p:nvPr/>
        </p:nvSpPr>
        <p:spPr>
          <a:xfrm>
            <a:off x="1042416" y="3010000"/>
            <a:ext cx="2904744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프롬프트로 로드 · 역할과 규칙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6" name="R976"/>
          <p:cNvSpPr/>
          <p:nvPr/>
        </p:nvSpPr>
        <p:spPr>
          <a:xfrm>
            <a:off x="4422648" y="2080000"/>
            <a:ext cx="3343656" cy="1750000"/>
          </a:xfrm>
          <a:prstGeom prst="rect">
            <a:avLst/>
          </a:prstGeom>
          <a:solidFill>
            <a:srgbClr val="1C1913"/>
          </a:solidFill>
          <a:ln w="9525">
            <a:solidFill>
              <a:srgbClr val="FFD733"/>
            </a:solidFill>
            <a:prstDash val="solid"/>
          </a:ln>
        </p:spPr>
      </p:sp>
      <p:sp>
        <p:nvSpPr>
          <p:cNvPr id="977" name="T977"/>
          <p:cNvSpPr/>
          <p:nvPr/>
        </p:nvSpPr>
        <p:spPr>
          <a:xfrm>
            <a:off x="4642104" y="2244592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</a:t>
            </a:r>
            <a:r>
              <a:rPr kumimoji="0" lang="en-US" altLang="ko-KR" sz="8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kumimoji="0" lang="ko-KR" alt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매번 달라짐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8" name="T978"/>
          <p:cNvSpPr/>
          <p:nvPr/>
        </p:nvSpPr>
        <p:spPr>
          <a:xfrm>
            <a:off x="4642104" y="253720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메인이 쓴 위임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9" name="T979"/>
          <p:cNvSpPr/>
          <p:nvPr/>
        </p:nvSpPr>
        <p:spPr>
          <a:xfrm>
            <a:off x="4642104" y="3010000"/>
            <a:ext cx="2904744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메인이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서브에이전트에게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시키는 작업 지시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D5D0C4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dirty="0" err="1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</a:rPr>
              <a:t>서브에이전트가</a:t>
            </a:r>
            <a:r>
              <a:rPr lang="ko-KR" altLang="en-US" sz="11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</a:rPr>
              <a:t> 알아야 하는 내용과 맥락도 위임 프롬프트 통해서 전달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0" name="R980"/>
          <p:cNvSpPr/>
          <p:nvPr/>
        </p:nvSpPr>
        <p:spPr>
          <a:xfrm>
            <a:off x="8022336" y="2080000"/>
            <a:ext cx="3343656" cy="175000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981" name="T981"/>
          <p:cNvSpPr/>
          <p:nvPr/>
        </p:nvSpPr>
        <p:spPr>
          <a:xfrm>
            <a:off x="8241792" y="2244592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 3 · 환경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2" name="T982"/>
          <p:cNvSpPr/>
          <p:nvPr/>
        </p:nvSpPr>
        <p:spPr>
          <a:xfrm>
            <a:off x="8241792" y="253720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폴더 위치 · </a:t>
            </a:r>
            <a:r>
              <a:rPr lang="en-US" altLang="ko-KR" sz="13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3" name="T983"/>
          <p:cNvSpPr/>
          <p:nvPr/>
        </p:nvSpPr>
        <p:spPr>
          <a:xfrm>
            <a:off x="8241792" y="3010000"/>
            <a:ext cx="2904744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작업하는 폴더 </a:t>
            </a:r>
            <a:r>
              <a:rPr lang="ko-KR" altLang="en-US" sz="1100" dirty="0">
                <a:solidFill>
                  <a:srgbClr val="D5D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CLAUDE.md 지침은 사용자 환경에 맞춰 컨텍스트에 주입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4" name="R984"/>
          <p:cNvSpPr/>
          <p:nvPr/>
        </p:nvSpPr>
        <p:spPr>
          <a:xfrm>
            <a:off x="822960" y="3990000"/>
            <a:ext cx="10543032" cy="70000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985" name="T985"/>
          <p:cNvSpPr/>
          <p:nvPr/>
        </p:nvSpPr>
        <p:spPr>
          <a:xfrm>
            <a:off x="1042416" y="4130000"/>
            <a:ext cx="1010412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없는 것 — 메인의 대화 이력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메인이 이미 읽은 파일 내용, 대화 중 내린 결정("아까 그거") 모두 이력에 속하므로 전달되지 않음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816352" y="649224"/>
            <a:ext cx="8549640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작성법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673352"/>
            <a:ext cx="10543032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위임의 판단 기준 — description은 메인이 위임을 결정할 때 확인하는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유일한 요소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가이드 —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+ 언제 사용"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조건형으로 작성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단순히 역할 소개 뿐만 아니라 호출 조건을 기술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1" name="R981"/>
          <p:cNvSpPr/>
          <p:nvPr/>
        </p:nvSpPr>
        <p:spPr>
          <a:xfrm>
            <a:off x="822960" y="2820000"/>
            <a:ext cx="10543032" cy="620000"/>
          </a:xfrm>
          <a:prstGeom prst="rect">
            <a:avLst/>
          </a:prstGeom>
          <a:solidFill>
            <a:srgbClr val="1C1913"/>
          </a:solidFill>
          <a:ln w="9525">
            <a:solidFill>
              <a:srgbClr val="FFD733"/>
            </a:solidFill>
            <a:prstDash val="solid"/>
          </a:ln>
        </p:spPr>
      </p:sp>
      <p:sp>
        <p:nvSpPr>
          <p:cNvPr id="982" name="T982"/>
          <p:cNvSpPr/>
          <p:nvPr/>
        </p:nvSpPr>
        <p:spPr>
          <a:xfrm>
            <a:off x="1042416" y="2990000"/>
            <a:ext cx="101041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다루는 대상과 작업 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사용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"~가 필요할 때 사용" 조건 · 적극 투입은 "반드시 사용"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31611A-D5FD-D71C-13DD-3EE3259A3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00" y="4046797"/>
            <a:ext cx="10155067" cy="1276528"/>
          </a:xfrm>
          <a:prstGeom prst="rect">
            <a:avLst/>
          </a:prstGeom>
          <a:ln>
            <a:solidFill>
              <a:srgbClr val="FFD733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414016" y="649224"/>
            <a:ext cx="8951976" cy="0"/>
          </a:xfrm>
          <a:prstGeom prst="line">
            <a:avLst/>
          </a:prstGeom>
          <a:noFill/>
          <a:ln w="12700">
            <a:solidFill>
              <a:srgbClr val="433F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실습의 한계와 개선점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105430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orchestration 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또 쓰려면 복사해서 붙여야 하는 구조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동료에게 주려면 따로 보내야 하고, 다듬은 노하우도 개인에게만 남는 상태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 — 이 절차를 파일로 저장해 한 줄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요청으로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820156" y="2514600"/>
            <a:ext cx="548640" cy="41148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 절차를 파일로 저장하기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3749040"/>
            <a:ext cx="12188952" cy="645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 절차를 자동화한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240280" y="649224"/>
            <a:ext cx="9125712" cy="0"/>
          </a:xfrm>
          <a:prstGeom prst="line">
            <a:avLst/>
          </a:prstGeom>
          <a:noFill/>
          <a:ln w="9525">
            <a:solidFill>
              <a:srgbClr val="433F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교시 목표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63039"/>
            <a:ext cx="10543032" cy="1288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배우고 있는 순서</a:t>
            </a:r>
            <a:endParaRPr lang="en-US" altLang="ko-KR" sz="1600" dirty="0">
              <a:solidFill>
                <a:srgbClr val="FFD7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만들기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서브 에이전트들을 구성해서 작업하기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수업에는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 여러 개를</a:t>
            </a:r>
            <a:r>
              <a:rPr lang="en-US" altLang="ko-KR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</a:t>
            </a:r>
            <a:r>
              <a:rPr lang="en-US" altLang="ko-KR" sz="16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번에</a:t>
            </a:r>
            <a:r>
              <a:rPr lang="en-US" altLang="ko-KR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지휘하는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프롬프트를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파일로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</a:t>
            </a:r>
            <a:r>
              <a:rPr lang="ko-KR" altLang="en-US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하는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3181773"/>
            <a:ext cx="3337560" cy="182880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3318933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 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4128" y="3602397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절차의 skill화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4128" y="4041309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 프롬프트를 skill 파일로 저장해 한 줄 요청으로 재사용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3181773"/>
            <a:ext cx="3337560" cy="182880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3318933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 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26864" y="3602397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규칙의 상시화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26864" y="4041309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지킬 규칙을 CLAUDE.md에 적어 모든 세션에 자동 적용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28432" y="3181773"/>
            <a:ext cx="3337560" cy="182880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3318933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 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0" y="3602397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 기준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0" y="4041309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skill과 CLAUDE.md 중 어디에 </a:t>
            </a:r>
            <a:r>
              <a:rPr kumimoji="0" 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적을지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240280" y="649224"/>
            <a:ext cx="9125712" cy="0"/>
          </a:xfrm>
          <a:prstGeom prst="line">
            <a:avLst/>
          </a:prstGeom>
          <a:noFill/>
          <a:ln w="9525">
            <a:solidFill>
              <a:srgbClr val="433F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정보를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담는 두 파일 — skill과 CLAUDE.md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363213"/>
              </p:ext>
            </p:extLst>
          </p:nvPr>
        </p:nvGraphicFramePr>
        <p:xfrm>
          <a:off x="822960" y="2103120"/>
          <a:ext cx="10543032" cy="2451735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5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6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CLAUDE.md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로드 시점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요청이 description과 맞을 때 · /이름 직접 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세션 시작 시 항상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담는</a:t>
                      </a:r>
                      <a:r>
                        <a:rPr lang="en-US" sz="1100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</a:t>
                      </a: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업무의 </a:t>
                      </a:r>
                      <a:r>
                        <a:rPr lang="en-US" sz="1100" dirty="0" err="1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단계별</a:t>
                      </a: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절차</a:t>
                      </a: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</a:t>
                      </a:r>
                      <a:r>
                        <a:rPr lang="en-US" altLang="ko-KR" sz="1100" dirty="0" err="1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필요할</a:t>
                      </a:r>
                      <a:r>
                        <a:rPr lang="en-US" altLang="ko-KR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때만</a:t>
                      </a:r>
                      <a:r>
                        <a:rPr lang="en-US" altLang="ko-KR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로드</a:t>
                      </a:r>
                      <a:r>
                        <a:rPr lang="en-US" altLang="ko-KR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D5D0C4"/>
                          </a:solidFill>
                          <a:effectLst/>
                          <a:uLnTx/>
                          <a:uFillTx/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5D0C4"/>
                          </a:solidFill>
                          <a:effectLst/>
                          <a:uLnTx/>
                          <a:uFillTx/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D5D0C4"/>
                          </a:solidFill>
                          <a:effectLst/>
                          <a:uLnTx/>
                          <a:uFillTx/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5D0C4"/>
                          </a:solidFill>
                          <a:effectLst/>
                          <a:uLnTx/>
                          <a:uFillTx/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D5D0C4"/>
                          </a:solidFill>
                          <a:effectLst/>
                          <a:uLnTx/>
                          <a:uFillTx/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5D0C4"/>
                          </a:solidFill>
                          <a:effectLst/>
                          <a:uLnTx/>
                          <a:uFillTx/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D5D0C4"/>
                          </a:solidFill>
                          <a:effectLst/>
                          <a:uLnTx/>
                          <a:uFillTx/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5D0C4"/>
                          </a:solidFill>
                          <a:effectLst/>
                          <a:uLnTx/>
                          <a:uFillTx/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해야 하는 경우</a:t>
                      </a:r>
                      <a:endParaRPr lang="en-US" sz="1100" dirty="0">
                        <a:solidFill>
                          <a:srgbClr val="D5D0C4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</a:t>
                      </a:r>
                      <a:r>
                        <a:rPr lang="en-US" sz="1100" dirty="0" err="1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짧은</a:t>
                      </a: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상시 규칙 · 배경 지식 · </a:t>
                      </a:r>
                      <a:r>
                        <a:rPr lang="en-US" sz="1100" dirty="0" err="1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위임</a:t>
                      </a: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라우팅</a:t>
                      </a:r>
                      <a:r>
                        <a:rPr lang="en-US" altLang="ko-KR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비교적 </a:t>
                      </a:r>
                      <a:r>
                        <a:rPr lang="en-US" sz="1100" dirty="0" err="1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길어도</a:t>
                      </a: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됨</a:t>
                      </a:r>
                      <a:r>
                        <a:rPr lang="en-US" altLang="ko-KR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</a:t>
                      </a:r>
                      <a:r>
                        <a:rPr lang="en-US" altLang="ko-KR" sz="1100" dirty="0" err="1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권장</a:t>
                      </a:r>
                      <a:r>
                        <a:rPr lang="en-US" altLang="ko-KR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500줄 </a:t>
                      </a:r>
                      <a:r>
                        <a:rPr lang="en-US" altLang="ko-KR" sz="1100" dirty="0" err="1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이내</a:t>
                      </a:r>
                      <a:r>
                        <a:rPr lang="en-US" altLang="ko-KR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짧게</a:t>
                      </a: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(200</a:t>
                      </a:r>
                      <a:r>
                        <a:rPr lang="ko-KR" alt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 이내</a:t>
                      </a:r>
                      <a:r>
                        <a:rPr lang="en-US" altLang="ko-KR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매 </a:t>
                      </a:r>
                      <a:r>
                        <a:rPr lang="ko-KR" alt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새로운 세션마다</a:t>
                      </a: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컨텍스트를</a:t>
                      </a: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7F4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.claude/skills/이름/SKILL.md (폴더 이름 = 명령 이름)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5D0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폴더 최상위 CLAUDE.md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13">
            <a:extLst>
              <a:ext uri="{FF2B5EF4-FFF2-40B4-BE49-F238E27FC236}">
                <a16:creationId xmlns:a16="http://schemas.microsoft.com/office/drawing/2014/main" id="{49109447-DF89-8300-0FD4-5EC6A0621AE2}"/>
              </a:ext>
            </a:extLst>
          </p:cNvPr>
          <p:cNvSpPr/>
          <p:nvPr/>
        </p:nvSpPr>
        <p:spPr>
          <a:xfrm>
            <a:off x="822960" y="50292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— 항상 적용되고 짧으면 CLAUDE.md, 특정 업무에만 쓰이고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skill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240280" y="649224"/>
            <a:ext cx="9125712" cy="0"/>
          </a:xfrm>
          <a:prstGeom prst="line">
            <a:avLst/>
          </a:prstGeom>
          <a:noFill/>
          <a:ln w="9525">
            <a:solidFill>
              <a:srgbClr val="433F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에이전트와 </a:t>
            </a: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시 유의사항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5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25880" y="2148840"/>
            <a:ext cx="10040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서브 에이전트와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추가하면 별도 작업 없이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반영 — .claude/agents/와 .claude/skills/는 감시 대상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25880" y="2524083"/>
            <a:ext cx="10040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추가·수정하면 수 초 내 감지되어 다음 위임부터 적용. 재시작 불필요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575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5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25880" y="3575136"/>
            <a:ext cx="10040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— 세션 시작 시 없던 폴더를 새로 만든 경우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25880" y="3986276"/>
            <a:ext cx="10040112" cy="311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뒤에는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새로 시작해야 인식됨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240280" y="649224"/>
            <a:ext cx="9125712" cy="0"/>
          </a:xfrm>
          <a:prstGeom prst="line">
            <a:avLst/>
          </a:prstGeom>
          <a:noFill/>
          <a:ln w="9525">
            <a:solidFill>
              <a:srgbClr val="433F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skill로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54572"/>
            <a:ext cx="10543032" cy="103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수업에서 실습한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 조금 수정한 아래 프롬프트를 복사 붙여넣기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Orchestartion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프롬프트가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동작하는지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저장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폴더가 새로 만들어지기 때문에 세션을 새로 열어야 새로 생성한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을 사용할 수 있음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489348"/>
            <a:ext cx="10543032" cy="3549377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89348"/>
            <a:ext cx="45719" cy="3549377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608220"/>
            <a:ext cx="10085832" cy="38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— SKILL 저장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8992" y="2990765"/>
            <a:ext cx="1003096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검토의견서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생성 절차를 앞으로 재사용할 수 있게 .claude/skills/review-draft/SKILL.md 파일로 만들어줘.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frontmatter는 name: review-draft, description: '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용역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 문서에 대한 검토의견서 작성 요청을 받으면 사용'.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lnSpc>
                <a:spcPct val="150000"/>
              </a:lnSpc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본문에는 절차를 담아줘: </a:t>
            </a:r>
          </a:p>
          <a:p>
            <a:pPr lvl="0">
              <a:lnSpc>
                <a:spcPct val="150000"/>
              </a:lnSpc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doc-summarizer subagent로 대상 문서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</a:p>
          <a:p>
            <a:pPr lvl="0">
              <a:lnSpc>
                <a:spcPct val="150000"/>
              </a:lnSpc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fact-checker subagent로 수치·날짜 정합성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</a:p>
          <a:p>
            <a:pPr lvl="0">
              <a:lnSpc>
                <a:spcPct val="150000"/>
              </a:lnSpc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en-US" altLang="ko-KR" sz="12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 </a:t>
            </a:r>
            <a:r>
              <a:rPr lang="en-US" altLang="ko-KR" sz="12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subagent로</a:t>
            </a:r>
            <a:r>
              <a:rPr lang="en-US" altLang="ko-KR" sz="12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개선점</a:t>
            </a:r>
            <a:r>
              <a:rPr lang="en-US" altLang="ko-KR" sz="12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도출</a:t>
            </a:r>
            <a:r>
              <a:rPr lang="en-US" altLang="ko-KR" sz="12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en-US" sz="12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translator Subagent</a:t>
            </a:r>
            <a:r>
              <a:rPr lang="ko-KR" altLang="en-US" sz="12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영어로 번역 </a:t>
            </a:r>
            <a:endParaRPr lang="en-US" altLang="ko-KR" sz="12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0">
              <a:lnSpc>
                <a:spcPct val="150000"/>
              </a:lnSpc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네 결과를 종합해 [개요 / 검토결과 요약 /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 사항 /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 버전 각각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목차의 검토의견서 초안을 docx로 저장.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문서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경로는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요청에서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받는다고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명시해줘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240280" y="649224"/>
            <a:ext cx="9125712" cy="0"/>
          </a:xfrm>
          <a:prstGeom prst="line">
            <a:avLst/>
          </a:prstGeom>
          <a:noFill/>
          <a:ln w="9525">
            <a:solidFill>
              <a:srgbClr val="433F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 작성 체크 세 가지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저장한 파일이 다음 문서에도 그대로 쓰이려면 확인이 필요한 세 가지. 저장 직후 본문을 열어 점검.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25880" y="2148840"/>
            <a:ext cx="10040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파일명이 본문에 박혀 있지 않은지 확인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25880" y="2414016"/>
            <a:ext cx="10040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처리할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문서는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요청에서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받도록 작성 — 파일명이 고정되면 다음 문서에 재사용 불가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25880" y="3063240"/>
            <a:ext cx="10040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description에 '언제 사용하는지'가 적혀 있는지 확인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25880" y="3328416"/>
            <a:ext cx="10040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발동의 판단 근거이며, 여기가 비면 이름을 직접 불러야만 동작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25880" y="3977640"/>
            <a:ext cx="10040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길이 확인 — 공식 권장 500줄 이내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25880" y="4242816"/>
            <a:ext cx="10040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로드된 본문은 세션 내내 컨텍스트에 남음. 상세 자료는 별도 파일로 분리해 필요할 때만 읽히게 작성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240280" y="649224"/>
            <a:ext cx="9125712" cy="0"/>
          </a:xfrm>
          <a:prstGeom prst="line">
            <a:avLst/>
          </a:prstGeom>
          <a:noFill/>
          <a:ln w="9525">
            <a:solidFill>
              <a:srgbClr val="433F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트리거 — 새 세션에서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664208"/>
            <a:ext cx="10543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절차를 다시 설명하지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문서만 지정. 저장한 skill이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드되고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서브 에이전트들을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572000" cy="105156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40280"/>
            <a:ext cx="45720" cy="105156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3591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— 한 줄 트리거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8992" y="2642616"/>
            <a:ext cx="40599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docs/deliverable_system_report.txt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용역 보고서의 검토의견서 작성해줘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476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입력하지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않았는데 skill 로드 후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지시한대로 서브 에이전트 지휘</a:t>
            </a:r>
            <a:endParaRPr lang="en-US" sz="1200" noProof="0" dirty="0">
              <a:solidFill>
                <a:prstClr val="black"/>
              </a:solidFill>
              <a:latin typeface="Calibri" panose="020F0502020204030204"/>
            </a:endParaRP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발동하지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않으면 프롬프트 창에 /review-draft 입력으로 직접 호출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90443EE-6428-5971-214E-E2F4B5887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167" y="2240280"/>
            <a:ext cx="5114128" cy="349241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78F31D-F1B0-A6C0-B455-814A9AEBF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778A14C9-0C87-42AA-3710-38152958B672}"/>
              </a:ext>
            </a:extLst>
          </p:cNvPr>
          <p:cNvSpPr/>
          <p:nvPr/>
        </p:nvSpPr>
        <p:spPr>
          <a:xfrm>
            <a:off x="2240280" y="649224"/>
            <a:ext cx="9125712" cy="0"/>
          </a:xfrm>
          <a:prstGeom prst="line">
            <a:avLst/>
          </a:prstGeom>
          <a:noFill/>
          <a:ln w="9525">
            <a:solidFill>
              <a:srgbClr val="433F31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CA8204-D013-8FE3-8F07-71F3D7145769}"/>
              </a:ext>
            </a:extLst>
          </p:cNvPr>
          <p:cNvSpPr/>
          <p:nvPr/>
        </p:nvSpPr>
        <p:spPr>
          <a:xfrm>
            <a:off x="822960" y="786384"/>
            <a:ext cx="108322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필요한 작업의 </a:t>
            </a:r>
            <a:r>
              <a:rPr kumimoji="0" lang="ko-KR" alt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 </a:t>
            </a: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4BA3D1-C6BB-ED91-2F54-4AC1C326E344}"/>
              </a:ext>
            </a:extLst>
          </p:cNvPr>
          <p:cNvSpPr/>
          <p:nvPr/>
        </p:nvSpPr>
        <p:spPr>
          <a:xfrm>
            <a:off x="822960" y="146304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양자역학 연구자는 양자역학 관련 번역 업무를 상시 진행한다고 가정하고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양자역학 번역이 잘 되었는지 확인하는 </a:t>
            </a:r>
            <a:r>
              <a:rPr lang="ko-KR" altLang="en-US" sz="14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에이전트 만들기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3328D18-004B-5DF9-42C3-E6DD94BF0A04}"/>
              </a:ext>
            </a:extLst>
          </p:cNvPr>
          <p:cNvSpPr/>
          <p:nvPr/>
        </p:nvSpPr>
        <p:spPr>
          <a:xfrm>
            <a:off x="868679" y="1906693"/>
            <a:ext cx="10543032" cy="481584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54AFA1D-F214-08BB-BF73-960E4817D5B0}"/>
              </a:ext>
            </a:extLst>
          </p:cNvPr>
          <p:cNvSpPr/>
          <p:nvPr/>
        </p:nvSpPr>
        <p:spPr>
          <a:xfrm>
            <a:off x="868679" y="1906693"/>
            <a:ext cx="45719" cy="481584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6C59217-4F2D-2DBC-CC84-56E4F3AE3677}"/>
              </a:ext>
            </a:extLst>
          </p:cNvPr>
          <p:cNvSpPr/>
          <p:nvPr/>
        </p:nvSpPr>
        <p:spPr>
          <a:xfrm>
            <a:off x="1124711" y="2025566"/>
            <a:ext cx="10085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— </a:t>
            </a:r>
            <a:r>
              <a:rPr kumimoji="0" lang="ko-KR" altLang="en-US" sz="850" b="1" i="0" u="none" strike="noStrike" kern="0" cap="none" spc="2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 역학 관련 용어 체크 에이전트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21852DE5-8296-555E-D8DB-918806E1AA96}"/>
              </a:ext>
            </a:extLst>
          </p:cNvPr>
          <p:cNvSpPr/>
          <p:nvPr/>
        </p:nvSpPr>
        <p:spPr>
          <a:xfrm>
            <a:off x="1124711" y="2281598"/>
            <a:ext cx="10030968" cy="421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내용으로 서브 에이전트 파일을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/agents/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만들어줘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실습이니 아래 내용 그대로 빠르게 생성해줘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name: term-checker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양자역학 관련 한국어 과학기술 문서의 영어 번역문에서 전문용어가 표준 영문 용어로 옮겨졌는지 검수할 때 사용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tools: Read, Grep, Glob, Write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당신은 양자정보과학 분야 전문용어 검수 전문가입니다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국문 원문과 영어 번역문을 대조하여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용어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대응표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기준으로 전문용어가 올바르게 번역되었는지 검수합니다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결맞음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coherence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얽힘 →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entanglement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 →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superposition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충실도 →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fidelity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 부호 →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 code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큐비트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qubit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 오류 정정 →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quantum error correction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오류율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 rate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증후군 →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 syndrome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허용 →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fault-tolerant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— 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용어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번역문 표기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부적합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표기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형식의 표로 보고합니다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대응표에 없는 용어는 일반적인 학술 관례를 기준으로 판단하되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근거를 함께 적습니다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 수정하지 않습니다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39975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240280" y="649224"/>
            <a:ext cx="9125712" cy="0"/>
          </a:xfrm>
          <a:prstGeom prst="line">
            <a:avLst/>
          </a:prstGeom>
          <a:noFill/>
          <a:ln w="9525">
            <a:solidFill>
              <a:srgbClr val="433F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86384"/>
            <a:ext cx="10757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ko-KR" alt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필요한 작업의 </a:t>
            </a:r>
            <a:r>
              <a:rPr lang="ko-KR" altLang="en-US" sz="2700" b="1" dirty="0" err="1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</a:t>
            </a:r>
            <a:r>
              <a:rPr lang="ko-KR" alt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 </a:t>
            </a:r>
            <a:r>
              <a:rPr lang="ko-KR" alt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</a:t>
            </a:r>
            <a:r>
              <a:rPr lang="en-US" altLang="ko-KR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CLAUDE.md</a:t>
            </a:r>
            <a:endParaRPr lang="en-US" altLang="ko-KR" sz="2700" dirty="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양자역학 관련 번역 요청이 들어오면 서브 에이전트들이 특정 절차에 맞게 번역을 진행하고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전문 용어들이 제대로 번역되었는지 검증하도록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CLAUDE.md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규칙 작성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194559"/>
            <a:ext cx="10543032" cy="2572173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59"/>
            <a:ext cx="45720" cy="2572173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313432"/>
            <a:ext cx="10085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— CLAUDE.MD 작성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8992" y="2596895"/>
            <a:ext cx="10030968" cy="1814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폴더 최상위에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만들어줘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폴더의 상시 규칙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하고 아래 내용을 담아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R="0" lvl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폴더는 양자역학 관련 연구 관련 자료를 관리한다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영어 번역 요청이 오면 아래 순서로 작업을 진행한다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>
              <a:lnSpc>
                <a:spcPts val="1600"/>
              </a:lnSpc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-Translator subagent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영어로 번역한 뒤</a:t>
            </a:r>
            <a:r>
              <a:rPr lang="en-US" altLang="ko-KR" sz="10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term-checker agent</a:t>
            </a:r>
            <a:r>
              <a:rPr lang="ko-KR" altLang="en-US" sz="1000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양자 역학 관련 단어가 제대로 번역되었는지 검증하고 번역 수정</a:t>
            </a:r>
            <a:endParaRPr lang="en-US" altLang="ko-KR" sz="10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0">
              <a:lnSpc>
                <a:spcPts val="1600"/>
              </a:lnSpc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파일명 뒤에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english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붙여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저장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F7F4E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R="0" lvl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1000" dirty="0">
              <a:solidFill>
                <a:srgbClr val="F7F4E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R="0" lvl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원문은 수정하지 않는다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검증에서 발견한 문제는 번역 결과와 함께 별도로 보고한다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37844" y="4995331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내용은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 subagent에도 함께 전달됨.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240280" y="649224"/>
            <a:ext cx="9125712" cy="0"/>
          </a:xfrm>
          <a:prstGeom prst="line">
            <a:avLst/>
          </a:prstGeom>
          <a:noFill/>
          <a:ln w="9525">
            <a:solidFill>
              <a:srgbClr val="433F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 역학 관련 번역 요청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이름도 subagent 이름도 부르지 않고 번역만 요청.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기재한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규칙이 스스로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발동하는지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572000" cy="1051560"/>
          </a:xfrm>
          <a:prstGeom prst="rect">
            <a:avLst/>
          </a:prstGeom>
          <a:solidFill>
            <a:srgbClr val="1C1913"/>
          </a:solidFill>
          <a:ln w="9525">
            <a:solidFill>
              <a:srgbClr val="433F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40280"/>
            <a:ext cx="45720" cy="105156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3591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— 한 줄 요청 (새 세션)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8992" y="2642616"/>
            <a:ext cx="40599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paper/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paper_qec_abstract.txt를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영어로 번역해줘.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C00860F-23B5-602E-8914-FF7060810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391" y="2240280"/>
            <a:ext cx="5692293" cy="426378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3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4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Teams — 용어만 알고 가기</a:t>
            </a:r>
          </a:p>
        </p:txBody>
      </p:sp>
      <p:sp>
        <p:nvSpPr>
          <p:cNvPr id="5" name="Text 5"/>
          <p:cNvSpPr/>
          <p:nvPr/>
        </p:nvSpPr>
        <p:spPr>
          <a:xfrm>
            <a:off x="640080" y="1400000"/>
            <a:ext cx="10908792" cy="74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이후로 주요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툴에서 확장하고 있는 영역이라, 오늘 단어 개념만이라도 습득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4F0E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한 단계 더 고도화한 구조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에이전트들이 각자 자기 세션에서 서로 직접 커뮤니케이션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4F0E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40080" y="2529496"/>
            <a:ext cx="5303520" cy="25534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8" name="Text 8"/>
          <p:cNvSpPr/>
          <p:nvPr/>
        </p:nvSpPr>
        <p:spPr>
          <a:xfrm>
            <a:off x="841248" y="2709496"/>
            <a:ext cx="4901184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 · 오늘 배운 것</a:t>
            </a:r>
          </a:p>
        </p:txBody>
      </p:sp>
      <p:sp>
        <p:nvSpPr>
          <p:cNvPr id="9" name="Text 9"/>
          <p:cNvSpPr/>
          <p:nvPr/>
        </p:nvSpPr>
        <p:spPr>
          <a:xfrm>
            <a:off x="841248" y="4569496"/>
            <a:ext cx="4901184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결과만 메인에게 보고 · subagent들끼리 서로 대화 없음</a:t>
            </a:r>
          </a:p>
        </p:txBody>
      </p:sp>
      <p:sp>
        <p:nvSpPr>
          <p:cNvPr id="10" name="Shape 10"/>
          <p:cNvSpPr/>
          <p:nvPr/>
        </p:nvSpPr>
        <p:spPr>
          <a:xfrm>
            <a:off x="6245352" y="2529496"/>
            <a:ext cx="5303520" cy="25534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6446520" y="2709496"/>
            <a:ext cx="4901184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TEAMS · 새 실험 기능</a:t>
            </a:r>
          </a:p>
        </p:txBody>
      </p:sp>
      <p:sp>
        <p:nvSpPr>
          <p:cNvPr id="12" name="Text 12"/>
          <p:cNvSpPr/>
          <p:nvPr/>
        </p:nvSpPr>
        <p:spPr>
          <a:xfrm>
            <a:off x="6446520" y="4569496"/>
            <a:ext cx="4901184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도중에 </a:t>
            </a:r>
            <a:r>
              <a:rPr kumimoji="0" lang="ko-KR" altLang="en-US" sz="1150" b="0" i="0" u="none" strike="noStrike" kern="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알게된</a:t>
            </a:r>
            <a:r>
              <a:rPr kumimoji="0" lang="ko-KR" alt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내용까지 에이전트끼리 서로 공유 </a:t>
            </a:r>
            <a:endParaRPr lang="en-US" altLang="ko-KR" sz="1150" kern="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</a:t>
            </a:r>
            <a:r>
              <a:rPr kumimoji="0" lang="ko-KR" altLang="en-US" sz="1150" b="0" i="0" u="none" strike="noStrike" kern="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teammate들끼리</a:t>
            </a:r>
            <a:r>
              <a:rPr kumimoji="0" lang="ko-KR" alt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직접 대화</a:t>
            </a:r>
          </a:p>
        </p:txBody>
      </p:sp>
      <p:sp>
        <p:nvSpPr>
          <p:cNvPr id="13" name="Shape 13"/>
          <p:cNvSpPr/>
          <p:nvPr/>
        </p:nvSpPr>
        <p:spPr>
          <a:xfrm>
            <a:off x="2416840" y="3059496"/>
            <a:ext cx="1750000" cy="460000"/>
          </a:xfrm>
          <a:prstGeom prst="roundRect">
            <a:avLst/>
          </a:prstGeom>
          <a:solidFill>
            <a:srgbClr val="312C1C"/>
          </a:solidFill>
          <a:ln w="15875">
            <a:solidFill>
              <a:srgbClr val="A8933F"/>
            </a:solidFill>
            <a:prstDash val="solid"/>
          </a:ln>
        </p:spPr>
      </p:sp>
      <p:sp>
        <p:nvSpPr>
          <p:cNvPr id="14" name="Text 14"/>
          <p:cNvSpPr/>
          <p:nvPr/>
        </p:nvSpPr>
        <p:spPr>
          <a:xfrm>
            <a:off x="2416840" y="3059496"/>
            <a:ext cx="175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에이전트</a:t>
            </a:r>
          </a:p>
        </p:txBody>
      </p:sp>
      <p:sp>
        <p:nvSpPr>
          <p:cNvPr id="15" name="Shape 15"/>
          <p:cNvSpPr/>
          <p:nvPr/>
        </p:nvSpPr>
        <p:spPr>
          <a:xfrm>
            <a:off x="1166840" y="3919496"/>
            <a:ext cx="1750000" cy="460000"/>
          </a:xfrm>
          <a:prstGeom prst="roundRect">
            <a:avLst/>
          </a:prstGeom>
          <a:solidFill>
            <a:srgbClr val="26221A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6" name="Text 16"/>
          <p:cNvSpPr/>
          <p:nvPr/>
        </p:nvSpPr>
        <p:spPr>
          <a:xfrm>
            <a:off x="1166840" y="3919496"/>
            <a:ext cx="175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</a:p>
        </p:txBody>
      </p:sp>
      <p:sp>
        <p:nvSpPr>
          <p:cNvPr id="17" name="Shape 17"/>
          <p:cNvSpPr/>
          <p:nvPr/>
        </p:nvSpPr>
        <p:spPr>
          <a:xfrm>
            <a:off x="3666840" y="3919496"/>
            <a:ext cx="1750000" cy="460000"/>
          </a:xfrm>
          <a:prstGeom prst="roundRect">
            <a:avLst/>
          </a:prstGeom>
          <a:solidFill>
            <a:srgbClr val="26221A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8" name="Text 18"/>
          <p:cNvSpPr/>
          <p:nvPr/>
        </p:nvSpPr>
        <p:spPr>
          <a:xfrm>
            <a:off x="3666840" y="3919496"/>
            <a:ext cx="175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</a:p>
        </p:txBody>
      </p:sp>
      <p:sp>
        <p:nvSpPr>
          <p:cNvPr id="19" name="Line 19"/>
          <p:cNvSpPr/>
          <p:nvPr/>
        </p:nvSpPr>
        <p:spPr>
          <a:xfrm flipV="1">
            <a:off x="2041840" y="3519496"/>
            <a:ext cx="1250000" cy="400000"/>
          </a:xfrm>
          <a:prstGeom prst="line">
            <a:avLst/>
          </a:prstGeom>
          <a:noFill/>
          <a:ln w="19050">
            <a:solidFill>
              <a:srgbClr val="9A8D5E"/>
            </a:solidFill>
            <a:prstDash val="solid"/>
            <a:tailEnd type="triangle" w="med" len="med"/>
          </a:ln>
        </p:spPr>
      </p:sp>
      <p:sp>
        <p:nvSpPr>
          <p:cNvPr id="20" name="Line 20"/>
          <p:cNvSpPr/>
          <p:nvPr/>
        </p:nvSpPr>
        <p:spPr>
          <a:xfrm flipH="1" flipV="1">
            <a:off x="3291840" y="3519496"/>
            <a:ext cx="1250000" cy="400000"/>
          </a:xfrm>
          <a:prstGeom prst="line">
            <a:avLst/>
          </a:prstGeom>
          <a:noFill/>
          <a:ln w="19050">
            <a:solidFill>
              <a:srgbClr val="9A8D5E"/>
            </a:solidFill>
            <a:prstDash val="solid"/>
            <a:tailEnd type="triangle" w="med" len="med"/>
          </a:ln>
        </p:spPr>
      </p:sp>
      <p:sp>
        <p:nvSpPr>
          <p:cNvPr id="21" name="Shape 21"/>
          <p:cNvSpPr/>
          <p:nvPr/>
        </p:nvSpPr>
        <p:spPr>
          <a:xfrm>
            <a:off x="8022112" y="3059496"/>
            <a:ext cx="1750000" cy="460000"/>
          </a:xfrm>
          <a:prstGeom prst="roundRect">
            <a:avLst/>
          </a:prstGeom>
          <a:solidFill>
            <a:srgbClr val="312C1C"/>
          </a:solidFill>
          <a:ln w="15875">
            <a:solidFill>
              <a:srgbClr val="A8933F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8022112" y="3059496"/>
            <a:ext cx="175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lead</a:t>
            </a:r>
          </a:p>
        </p:txBody>
      </p:sp>
      <p:sp>
        <p:nvSpPr>
          <p:cNvPr id="23" name="Shape 23"/>
          <p:cNvSpPr/>
          <p:nvPr/>
        </p:nvSpPr>
        <p:spPr>
          <a:xfrm>
            <a:off x="6772112" y="3919496"/>
            <a:ext cx="1750000" cy="460000"/>
          </a:xfrm>
          <a:prstGeom prst="roundRect">
            <a:avLst/>
          </a:prstGeom>
          <a:solidFill>
            <a:srgbClr val="26221A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6772112" y="3919496"/>
            <a:ext cx="175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teammate</a:t>
            </a:r>
          </a:p>
        </p:txBody>
      </p:sp>
      <p:sp>
        <p:nvSpPr>
          <p:cNvPr id="25" name="Shape 25"/>
          <p:cNvSpPr/>
          <p:nvPr/>
        </p:nvSpPr>
        <p:spPr>
          <a:xfrm>
            <a:off x="9272112" y="3919496"/>
            <a:ext cx="1750000" cy="460000"/>
          </a:xfrm>
          <a:prstGeom prst="roundRect">
            <a:avLst/>
          </a:prstGeom>
          <a:solidFill>
            <a:srgbClr val="26221A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26" name="Text 26"/>
          <p:cNvSpPr/>
          <p:nvPr/>
        </p:nvSpPr>
        <p:spPr>
          <a:xfrm>
            <a:off x="9272112" y="3919496"/>
            <a:ext cx="175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teammate</a:t>
            </a:r>
          </a:p>
        </p:txBody>
      </p:sp>
      <p:sp>
        <p:nvSpPr>
          <p:cNvPr id="27" name="Line 27"/>
          <p:cNvSpPr/>
          <p:nvPr/>
        </p:nvSpPr>
        <p:spPr>
          <a:xfrm flipV="1">
            <a:off x="7647112" y="3519496"/>
            <a:ext cx="1250000" cy="400000"/>
          </a:xfrm>
          <a:prstGeom prst="line">
            <a:avLst/>
          </a:prstGeom>
          <a:noFill/>
          <a:ln w="19050">
            <a:solidFill>
              <a:srgbClr val="9A8D5E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28" name="Line 28"/>
          <p:cNvSpPr/>
          <p:nvPr/>
        </p:nvSpPr>
        <p:spPr>
          <a:xfrm flipH="1" flipV="1">
            <a:off x="8897112" y="3519496"/>
            <a:ext cx="1250000" cy="400000"/>
          </a:xfrm>
          <a:prstGeom prst="line">
            <a:avLst/>
          </a:prstGeom>
          <a:noFill/>
          <a:ln w="19050">
            <a:solidFill>
              <a:srgbClr val="9A8D5E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29" name="Line 29"/>
          <p:cNvSpPr/>
          <p:nvPr/>
        </p:nvSpPr>
        <p:spPr>
          <a:xfrm>
            <a:off x="8522112" y="4149496"/>
            <a:ext cx="75000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0" name="Text 30"/>
          <p:cNvSpPr/>
          <p:nvPr/>
        </p:nvSpPr>
        <p:spPr>
          <a:xfrm>
            <a:off x="640080" y="5357256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2월에 나온 실험 기능 — </a:t>
            </a:r>
            <a:r>
              <a:rPr lang="en-US" altLang="ko-KR" sz="1250" kern="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default</a:t>
            </a:r>
            <a:r>
              <a:rPr lang="ko-KR" altLang="en-US" sz="1250" kern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작동하지 않고</a:t>
            </a:r>
            <a:r>
              <a:rPr kumimoji="0" lang="ko-KR" altLang="en-US" sz="1250" b="0" i="0" u="none" strike="noStrike" kern="0" cap="none" spc="0" normalizeH="0" baseline="0" noProof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250" b="0" i="0" u="none" strike="noStrike" kern="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 범위 밖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240280" y="649224"/>
            <a:ext cx="9125712" cy="0"/>
          </a:xfrm>
          <a:prstGeom prst="line">
            <a:avLst/>
          </a:prstGeom>
          <a:noFill/>
          <a:ln w="9525">
            <a:solidFill>
              <a:srgbClr val="433F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86384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700" b="1" dirty="0">
                <a:solidFill>
                  <a:srgbClr val="F7F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subagent도 subagent를 부를 수 있음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5D0C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8월 기준. 예전 자료에는 "중첩 불가"로 적혀 있으나 현재는 기본 허용.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105430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— 메인 대화 아래 3계층까지 중첩 위임 가능. 한계에 도달한 subagent는 위임 없이 직접 처리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 — settings.json의 env 항목에서 CLAUDE_CODE_MAX_SUBAGENT_SPAWN_DEPTH 변경, 1이면 중첩 해제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실행 — 한 세션에서 20개까지. 초과하면 추가 생성이 실패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7F4E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실습은 메인이 5명을 순서대로 부르는 1계층 구조 — 중첩은 위임받은 작업이 다시 갈라질 때 사용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4846</Words>
  <Application>Microsoft Office PowerPoint</Application>
  <PresentationFormat>와이드스크린</PresentationFormat>
  <Paragraphs>605</Paragraphs>
  <Slides>46</Slides>
  <Notes>44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1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나만의 AI Agent 만들기 — subagent로 문서 업무 자동화 팀 구성</dc:title>
  <dc:subject>PptxGenJS Presentation</dc:subject>
  <dc:creator>KISTI</dc:creator>
  <cp:lastModifiedBy>think</cp:lastModifiedBy>
  <cp:revision>1</cp:revision>
  <dcterms:created xsi:type="dcterms:W3CDTF">2026-08-15T01:04:07Z</dcterms:created>
  <dcterms:modified xsi:type="dcterms:W3CDTF">2026-08-24T06:01:57Z</dcterms:modified>
</cp:coreProperties>
</file>