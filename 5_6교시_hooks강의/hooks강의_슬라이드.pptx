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62" r:id="rId4"/>
    <p:sldId id="257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80" r:id="rId22"/>
    <p:sldId id="293" r:id="rId23"/>
    <p:sldId id="282" r:id="rId24"/>
    <p:sldId id="283" r:id="rId25"/>
    <p:sldId id="294" r:id="rId26"/>
    <p:sldId id="284" r:id="rId27"/>
    <p:sldId id="285" r:id="rId28"/>
    <p:sldId id="286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14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0182-1E9A-A593-5D1F-0C81A12B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F07C9-C83E-33E0-D8D5-B0D6D113E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2EE3C-1735-31D3-DD57-C6D5BC2C8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DAF6D-7242-6413-FA1D-B4D6DA98C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106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D309-B1C9-4014-D343-08D17362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1C793-3542-1A9A-26BC-2976EFD64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23C63-C252-27A1-AFE2-AC775B93B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FB5EC-0623-153D-5BD6-E50D6150DC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993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38444" y="2487168"/>
            <a:ext cx="512064" cy="41148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0"/>
            <a:ext cx="12188952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</a:t>
            </a:r>
            <a:r>
              <a:rPr lang="ko-KR" altLang="en-US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4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</a:t>
            </a:r>
            <a:r>
              <a:rPr lang="en-US" sz="40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규정</a:t>
            </a:r>
            <a:r>
              <a:rPr lang="en-US" altLang="ko-KR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ko-KR" altLang="en-US" sz="40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만들기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간략 개념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= Claude </a:t>
            </a:r>
            <a:r>
              <a:rPr lang="en-US" sz="13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Code가</a:t>
            </a: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</a:t>
            </a: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시점(이벤트)에, 조건이 맞으면 자동으로 실행되는 검사 장치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ko-KR" alt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방식과의 차이 </a:t>
            </a:r>
            <a:r>
              <a:rPr lang="en-US" altLang="ko-KR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</a:t>
            </a:r>
            <a:r>
              <a:rPr lang="en-US" sz="13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ko-KR" alt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r>
              <a:rPr lang="en-US" sz="13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CLAUDE.md에</a:t>
            </a: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적은 </a:t>
            </a:r>
            <a:r>
              <a:rPr lang="en-US" sz="13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</a:t>
            </a: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lang="en-US" sz="13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대체로</a:t>
            </a: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지켜지는 것 — 지시 이행이 확률적이라 보장 없음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hook은 조건이 맞으면 매번 100% </a:t>
            </a:r>
            <a:r>
              <a:rPr lang="en-US" sz="13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5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altLang="ko-KR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3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초반부터 검사 기준을 자연어 문장으로 쓸 수 있는 방식을 본격적으로 제공하고 있음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hooks인가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63039"/>
            <a:ext cx="10908792" cy="804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갑자기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"훅"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들어오는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Hook이다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"답하기 전에 반드시 검증을 거쳐라"라는 규칙을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지키게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강제력이 있어야 함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HOOK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조건이 맞으면 매번 무조건 실행</a:t>
            </a:r>
            <a:endParaRPr lang="en-US" sz="1400" dirty="0"/>
          </a:p>
        </p:txBody>
      </p:sp>
      <p:sp>
        <p:nvSpPr>
          <p:cNvPr id="22" name="DiagramLabel">
            <a:extLst>
              <a:ext uri="{FF2B5EF4-FFF2-40B4-BE49-F238E27FC236}">
                <a16:creationId xmlns:a16="http://schemas.microsoft.com/office/drawing/2014/main" id="{D21D0592-4335-5FD1-281F-0780F551CF24}"/>
              </a:ext>
            </a:extLst>
          </p:cNvPr>
          <p:cNvSpPr/>
          <p:nvPr/>
        </p:nvSpPr>
        <p:spPr>
          <a:xfrm>
            <a:off x="504613" y="4451371"/>
            <a:ext cx="30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CLAUDE의 작업 흐름</a:t>
            </a:r>
          </a:p>
        </p:txBody>
      </p:sp>
      <p:sp>
        <p:nvSpPr>
          <p:cNvPr id="24" name="FlowCard1">
            <a:extLst>
              <a:ext uri="{FF2B5EF4-FFF2-40B4-BE49-F238E27FC236}">
                <a16:creationId xmlns:a16="http://schemas.microsoft.com/office/drawing/2014/main" id="{22E7689A-6F4A-D1CF-E07D-4D3D7B8AAA0E}"/>
              </a:ext>
            </a:extLst>
          </p:cNvPr>
          <p:cNvSpPr/>
          <p:nvPr/>
        </p:nvSpPr>
        <p:spPr>
          <a:xfrm>
            <a:off x="504613" y="4821371"/>
            <a:ext cx="1900000" cy="820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26" name="FlowText1">
            <a:extLst>
              <a:ext uri="{FF2B5EF4-FFF2-40B4-BE49-F238E27FC236}">
                <a16:creationId xmlns:a16="http://schemas.microsoft.com/office/drawing/2014/main" id="{D16FF594-C1BE-9764-ABEF-029ADF0DD026}"/>
              </a:ext>
            </a:extLst>
          </p:cNvPr>
          <p:cNvSpPr/>
          <p:nvPr/>
        </p:nvSpPr>
        <p:spPr>
          <a:xfrm>
            <a:off x="504613" y="4821371"/>
            <a:ext cx="190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접수</a:t>
            </a:r>
          </a:p>
        </p:txBody>
      </p:sp>
      <p:sp>
        <p:nvSpPr>
          <p:cNvPr id="28" name="FlowCard2">
            <a:extLst>
              <a:ext uri="{FF2B5EF4-FFF2-40B4-BE49-F238E27FC236}">
                <a16:creationId xmlns:a16="http://schemas.microsoft.com/office/drawing/2014/main" id="{DDCBA45A-5CA6-6E38-C257-748C80525488}"/>
              </a:ext>
            </a:extLst>
          </p:cNvPr>
          <p:cNvSpPr/>
          <p:nvPr/>
        </p:nvSpPr>
        <p:spPr>
          <a:xfrm>
            <a:off x="2756811" y="4821371"/>
            <a:ext cx="1900000" cy="820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30" name="FlowText2">
            <a:extLst>
              <a:ext uri="{FF2B5EF4-FFF2-40B4-BE49-F238E27FC236}">
                <a16:creationId xmlns:a16="http://schemas.microsoft.com/office/drawing/2014/main" id="{B32D3590-FEB0-D2C4-A532-12ADE030B643}"/>
              </a:ext>
            </a:extLst>
          </p:cNvPr>
          <p:cNvSpPr/>
          <p:nvPr/>
        </p:nvSpPr>
        <p:spPr>
          <a:xfrm>
            <a:off x="2756811" y="4821371"/>
            <a:ext cx="190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</a:t>
            </a:r>
            <a:endParaRPr lang="en-US" sz="1100" b="1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2" name="FlowCard3">
            <a:extLst>
              <a:ext uri="{FF2B5EF4-FFF2-40B4-BE49-F238E27FC236}">
                <a16:creationId xmlns:a16="http://schemas.microsoft.com/office/drawing/2014/main" id="{C08107E3-ADEA-24A2-872E-3C79950CB0C1}"/>
              </a:ext>
            </a:extLst>
          </p:cNvPr>
          <p:cNvSpPr/>
          <p:nvPr/>
        </p:nvSpPr>
        <p:spPr>
          <a:xfrm>
            <a:off x="5009009" y="4821371"/>
            <a:ext cx="1900000" cy="820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34" name="FlowText3">
            <a:extLst>
              <a:ext uri="{FF2B5EF4-FFF2-40B4-BE49-F238E27FC236}">
                <a16:creationId xmlns:a16="http://schemas.microsoft.com/office/drawing/2014/main" id="{F588AA40-86F7-9879-C93B-3138988DA8BF}"/>
              </a:ext>
            </a:extLst>
          </p:cNvPr>
          <p:cNvSpPr/>
          <p:nvPr/>
        </p:nvSpPr>
        <p:spPr>
          <a:xfrm>
            <a:off x="5009009" y="4821371"/>
            <a:ext cx="190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작성</a:t>
            </a:r>
            <a:endParaRPr lang="en-US" sz="1100" b="1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6" name="FlowCard4">
            <a:extLst>
              <a:ext uri="{FF2B5EF4-FFF2-40B4-BE49-F238E27FC236}">
                <a16:creationId xmlns:a16="http://schemas.microsoft.com/office/drawing/2014/main" id="{70190B50-28A8-F6F0-877D-8BC486DE2258}"/>
              </a:ext>
            </a:extLst>
          </p:cNvPr>
          <p:cNvSpPr/>
          <p:nvPr/>
        </p:nvSpPr>
        <p:spPr>
          <a:xfrm>
            <a:off x="7261207" y="4821371"/>
            <a:ext cx="1900000" cy="820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38" name="FlowText4">
            <a:extLst>
              <a:ext uri="{FF2B5EF4-FFF2-40B4-BE49-F238E27FC236}">
                <a16:creationId xmlns:a16="http://schemas.microsoft.com/office/drawing/2014/main" id="{37592DAF-ACCE-95FF-5C31-90DE6FAACB8C}"/>
              </a:ext>
            </a:extLst>
          </p:cNvPr>
          <p:cNvSpPr/>
          <p:nvPr/>
        </p:nvSpPr>
        <p:spPr>
          <a:xfrm>
            <a:off x="7261207" y="4821371"/>
            <a:ext cx="190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r>
              <a:rPr 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lang="en-US" sz="1100" b="1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0" name="FlowCard5">
            <a:extLst>
              <a:ext uri="{FF2B5EF4-FFF2-40B4-BE49-F238E27FC236}">
                <a16:creationId xmlns:a16="http://schemas.microsoft.com/office/drawing/2014/main" id="{BBAF63FB-6CF5-1AFF-1B30-6680F1AEF86A}"/>
              </a:ext>
            </a:extLst>
          </p:cNvPr>
          <p:cNvSpPr/>
          <p:nvPr/>
        </p:nvSpPr>
        <p:spPr>
          <a:xfrm>
            <a:off x="9513405" y="4821371"/>
            <a:ext cx="1900000" cy="820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42" name="FlowText5">
            <a:extLst>
              <a:ext uri="{FF2B5EF4-FFF2-40B4-BE49-F238E27FC236}">
                <a16:creationId xmlns:a16="http://schemas.microsoft.com/office/drawing/2014/main" id="{B7F790C0-4697-F39E-2C0C-DE1514C51089}"/>
              </a:ext>
            </a:extLst>
          </p:cNvPr>
          <p:cNvSpPr/>
          <p:nvPr/>
        </p:nvSpPr>
        <p:spPr>
          <a:xfrm>
            <a:off x="9513405" y="4821371"/>
            <a:ext cx="190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종료</a:t>
            </a:r>
          </a:p>
        </p:txBody>
      </p:sp>
      <p:sp>
        <p:nvSpPr>
          <p:cNvPr id="44" name="GapArrow1">
            <a:extLst>
              <a:ext uri="{FF2B5EF4-FFF2-40B4-BE49-F238E27FC236}">
                <a16:creationId xmlns:a16="http://schemas.microsoft.com/office/drawing/2014/main" id="{F44047C3-386C-5E04-F3E1-72F151EBE5D1}"/>
              </a:ext>
            </a:extLst>
          </p:cNvPr>
          <p:cNvSpPr/>
          <p:nvPr/>
        </p:nvSpPr>
        <p:spPr>
          <a:xfrm>
            <a:off x="2404613" y="4821371"/>
            <a:ext cx="352198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</a:p>
        </p:txBody>
      </p:sp>
      <p:sp>
        <p:nvSpPr>
          <p:cNvPr id="46" name="GapArrow2">
            <a:extLst>
              <a:ext uri="{FF2B5EF4-FFF2-40B4-BE49-F238E27FC236}">
                <a16:creationId xmlns:a16="http://schemas.microsoft.com/office/drawing/2014/main" id="{1BDA90C9-77B3-334F-0F0B-84F09EDFC532}"/>
              </a:ext>
            </a:extLst>
          </p:cNvPr>
          <p:cNvSpPr/>
          <p:nvPr/>
        </p:nvSpPr>
        <p:spPr>
          <a:xfrm>
            <a:off x="4656811" y="4821371"/>
            <a:ext cx="352198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</a:p>
        </p:txBody>
      </p:sp>
      <p:sp>
        <p:nvSpPr>
          <p:cNvPr id="48" name="GapArrow4">
            <a:extLst>
              <a:ext uri="{FF2B5EF4-FFF2-40B4-BE49-F238E27FC236}">
                <a16:creationId xmlns:a16="http://schemas.microsoft.com/office/drawing/2014/main" id="{E95BC2AB-E990-8680-6D51-5B1AE64FB529}"/>
              </a:ext>
            </a:extLst>
          </p:cNvPr>
          <p:cNvSpPr/>
          <p:nvPr/>
        </p:nvSpPr>
        <p:spPr>
          <a:xfrm>
            <a:off x="9161207" y="4821371"/>
            <a:ext cx="352198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</a:p>
        </p:txBody>
      </p:sp>
      <p:sp>
        <p:nvSpPr>
          <p:cNvPr id="50" name="HookBadge">
            <a:extLst>
              <a:ext uri="{FF2B5EF4-FFF2-40B4-BE49-F238E27FC236}">
                <a16:creationId xmlns:a16="http://schemas.microsoft.com/office/drawing/2014/main" id="{26FC85F3-3736-04D8-34DD-9EA69BDF4E36}"/>
              </a:ext>
            </a:extLst>
          </p:cNvPr>
          <p:cNvSpPr/>
          <p:nvPr/>
        </p:nvSpPr>
        <p:spPr>
          <a:xfrm>
            <a:off x="3714533" y="2821371"/>
            <a:ext cx="900000" cy="400000"/>
          </a:xfrm>
          <a:prstGeom prst="roundRect">
            <a:avLst>
              <a:gd name="adj" fmla="val 30000"/>
            </a:avLst>
          </a:prstGeom>
          <a:solidFill>
            <a:srgbClr val="FFD7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</a:p>
        </p:txBody>
      </p:sp>
      <p:sp>
        <p:nvSpPr>
          <p:cNvPr id="52" name="HookArrow">
            <a:extLst>
              <a:ext uri="{FF2B5EF4-FFF2-40B4-BE49-F238E27FC236}">
                <a16:creationId xmlns:a16="http://schemas.microsoft.com/office/drawing/2014/main" id="{8B7025B0-F15C-2A0F-7777-24FF815D6404}"/>
              </a:ext>
            </a:extLst>
          </p:cNvPr>
          <p:cNvSpPr/>
          <p:nvPr/>
        </p:nvSpPr>
        <p:spPr>
          <a:xfrm>
            <a:off x="4614533" y="3121371"/>
            <a:ext cx="2120000" cy="950000"/>
          </a:xfrm>
          <a:prstGeom prst="line">
            <a:avLst/>
          </a:prstGeom>
          <a:noFill/>
          <a:ln w="57150" cap="rnd">
            <a:solidFill>
              <a:srgbClr val="FFD733"/>
            </a:solidFill>
            <a:prstDash val="solid"/>
            <a:tailEnd type="triangle" w="lg" len="lg"/>
          </a:ln>
        </p:spPr>
      </p:sp>
      <p:sp>
        <p:nvSpPr>
          <p:cNvPr id="54" name="SpeedLine1">
            <a:extLst>
              <a:ext uri="{FF2B5EF4-FFF2-40B4-BE49-F238E27FC236}">
                <a16:creationId xmlns:a16="http://schemas.microsoft.com/office/drawing/2014/main" id="{642B7B17-7CAB-B14E-5516-17D6C5FB10DF}"/>
              </a:ext>
            </a:extLst>
          </p:cNvPr>
          <p:cNvSpPr/>
          <p:nvPr/>
        </p:nvSpPr>
        <p:spPr>
          <a:xfrm>
            <a:off x="5014533" y="2921371"/>
            <a:ext cx="1400000" cy="627000"/>
          </a:xfrm>
          <a:prstGeom prst="line">
            <a:avLst/>
          </a:prstGeom>
          <a:noFill/>
          <a:ln w="22225" cap="rnd">
            <a:solidFill>
              <a:srgbClr val="FFD733">
                <a:alpha val="45000"/>
              </a:srgbClr>
            </a:solidFill>
            <a:prstDash val="solid"/>
          </a:ln>
        </p:spPr>
      </p:sp>
      <p:sp>
        <p:nvSpPr>
          <p:cNvPr id="56" name="SpeedLine2">
            <a:extLst>
              <a:ext uri="{FF2B5EF4-FFF2-40B4-BE49-F238E27FC236}">
                <a16:creationId xmlns:a16="http://schemas.microsoft.com/office/drawing/2014/main" id="{0D610417-3779-C490-F155-C753A9C2A9F4}"/>
              </a:ext>
            </a:extLst>
          </p:cNvPr>
          <p:cNvSpPr/>
          <p:nvPr/>
        </p:nvSpPr>
        <p:spPr>
          <a:xfrm>
            <a:off x="4544533" y="3451371"/>
            <a:ext cx="1400000" cy="627000"/>
          </a:xfrm>
          <a:prstGeom prst="line">
            <a:avLst/>
          </a:prstGeom>
          <a:noFill/>
          <a:ln w="22225" cap="rnd">
            <a:solidFill>
              <a:srgbClr val="FFD733">
                <a:alpha val="45000"/>
              </a:srgbClr>
            </a:solidFill>
            <a:prstDash val="solid"/>
          </a:ln>
        </p:spPr>
      </p:sp>
      <p:sp>
        <p:nvSpPr>
          <p:cNvPr id="58" name="ImpactStar">
            <a:extLst>
              <a:ext uri="{FF2B5EF4-FFF2-40B4-BE49-F238E27FC236}">
                <a16:creationId xmlns:a16="http://schemas.microsoft.com/office/drawing/2014/main" id="{BC6229EF-BBDE-D230-3D1C-E5B91AC83514}"/>
              </a:ext>
            </a:extLst>
          </p:cNvPr>
          <p:cNvSpPr/>
          <p:nvPr/>
        </p:nvSpPr>
        <p:spPr>
          <a:xfrm rot="-600000">
            <a:off x="6535108" y="3751371"/>
            <a:ext cx="1100000" cy="1100000"/>
          </a:xfrm>
          <a:prstGeom prst="irregularSeal2">
            <a:avLst/>
          </a:prstGeom>
          <a:solidFill>
            <a:srgbClr val="FFD73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0" name="ImpactText">
            <a:extLst>
              <a:ext uri="{FF2B5EF4-FFF2-40B4-BE49-F238E27FC236}">
                <a16:creationId xmlns:a16="http://schemas.microsoft.com/office/drawing/2014/main" id="{D9794525-AA38-127D-58BA-E0667AD8E2ED}"/>
              </a:ext>
            </a:extLst>
          </p:cNvPr>
          <p:cNvSpPr/>
          <p:nvPr/>
        </p:nvSpPr>
        <p:spPr>
          <a:xfrm>
            <a:off x="6585108" y="4141371"/>
            <a:ext cx="1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훅!</a:t>
            </a:r>
          </a:p>
        </p:txBody>
      </p:sp>
      <p:sp>
        <p:nvSpPr>
          <p:cNvPr id="62" name="DropLine">
            <a:extLst>
              <a:ext uri="{FF2B5EF4-FFF2-40B4-BE49-F238E27FC236}">
                <a16:creationId xmlns:a16="http://schemas.microsoft.com/office/drawing/2014/main" id="{EC8B7AAE-0EA5-06F8-80CA-1E45DBFF461C}"/>
              </a:ext>
            </a:extLst>
          </p:cNvPr>
          <p:cNvSpPr/>
          <p:nvPr/>
        </p:nvSpPr>
        <p:spPr>
          <a:xfrm>
            <a:off x="7085108" y="4851371"/>
            <a:ext cx="0" cy="800000"/>
          </a:xfrm>
          <a:prstGeom prst="line">
            <a:avLst/>
          </a:prstGeom>
          <a:noFill/>
          <a:ln w="15875" cap="rnd">
            <a:solidFill>
              <a:srgbClr val="FFD733"/>
            </a:solidFill>
            <a:prstDash val="dash"/>
          </a:ln>
        </p:spPr>
      </p:sp>
      <p:sp>
        <p:nvSpPr>
          <p:cNvPr id="64" name="EventLabel">
            <a:extLst>
              <a:ext uri="{FF2B5EF4-FFF2-40B4-BE49-F238E27FC236}">
                <a16:creationId xmlns:a16="http://schemas.microsoft.com/office/drawing/2014/main" id="{12D87859-6173-6A2E-711F-F333989FE5A8}"/>
              </a:ext>
            </a:extLst>
          </p:cNvPr>
          <p:cNvSpPr/>
          <p:nvPr/>
        </p:nvSpPr>
        <p:spPr>
          <a:xfrm>
            <a:off x="5585108" y="5791371"/>
            <a:ext cx="3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kern="0" spc="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직전 </a:t>
            </a:r>
            <a:r>
              <a:rPr lang="en-US" sz="950" b="1" kern="0" spc="15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r>
              <a:rPr lang="en-US" sz="950" dirty="0">
                <a:solidFill>
                  <a:srgbClr val="BDB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검사가 여기로 들어옴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강의 목표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75781"/>
              </p:ext>
            </p:extLst>
          </p:nvPr>
        </p:nvGraphicFramePr>
        <p:xfrm>
          <a:off x="640080" y="1737360"/>
          <a:ext cx="10908792" cy="213969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1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'대외비' 단어가 포함된 문서의 생성을 차단하는 hook을 직접 등록하고 발동시키기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번역의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용어를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r>
                        <a:rPr lang="ko-KR" alt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때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hook으로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“</a:t>
                      </a:r>
                      <a:r>
                        <a:rPr lang="ko-KR" alt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일단 번역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→ </a:t>
                      </a:r>
                      <a:r>
                        <a:rPr lang="ko-KR" alt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수정 →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” 루프 관찰하기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규정집을 직접 읽고 검증하는 agent hook으로 확장하고, 내 </a:t>
                      </a:r>
                      <a:r>
                        <a:rPr lang="en-US" sz="15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업무에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적용할</a:t>
                      </a:r>
                      <a:r>
                        <a:rPr lang="en-US" sz="15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hook 설계하기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폴더 구성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05335"/>
              </p:ext>
            </p:extLst>
          </p:nvPr>
        </p:nvGraphicFramePr>
        <p:xfrm>
          <a:off x="640080" y="1600200"/>
          <a:ext cx="10908792" cy="135331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01_샘플논문_양자얽힘.txt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1 </a:t>
                      </a:r>
                      <a:r>
                        <a:rPr lang="ko-KR" alt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02_KISTI_여비규정_가상.html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r>
                        <a:rPr 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2 </a:t>
                      </a:r>
                      <a:r>
                        <a:rPr lang="ko-KR" alt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03_settings_완성본.json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전체 완성본 — 막힐 때 참고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'대외비' 문서 생성 차단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‘Hook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설정파일에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Hook 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전체 사이클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606869"/>
              </p:ext>
            </p:extLst>
          </p:nvPr>
        </p:nvGraphicFramePr>
        <p:xfrm>
          <a:off x="640080" y="2103120"/>
          <a:ext cx="6492240" cy="170078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.claude/</a:t>
                      </a:r>
                      <a:r>
                        <a:rPr lang="en-US" sz="13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settings.json에</a:t>
                      </a: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JSON </a:t>
                      </a:r>
                      <a:r>
                        <a:rPr lang="ko-KR" alt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'대외비' 단어가 들어간 문서 생성 요청 → </a:t>
                      </a:r>
                      <a:r>
                        <a:rPr lang="en-US" sz="13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</a:t>
                      </a: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'대외비' 없는 일반 문서 생성 요청 → </a:t>
                      </a:r>
                      <a:r>
                        <a:rPr lang="en-US" sz="13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r>
                        <a:rPr lang="en-US" sz="13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2103120"/>
            <a:ext cx="4005072" cy="2286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44968" y="224942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</a:t>
            </a:r>
            <a:endParaRPr lang="en-US" sz="850" dirty="0"/>
          </a:p>
        </p:txBody>
      </p:sp>
      <p:sp>
        <p:nvSpPr>
          <p:cNvPr id="6" name="Text 6"/>
          <p:cNvSpPr/>
          <p:nvPr/>
        </p:nvSpPr>
        <p:spPr>
          <a:xfrm>
            <a:off x="7744968" y="2542032"/>
            <a:ext cx="360273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차단된 파일은 만들어졌다 지워진 것이 아니라 처음부터 생기지 않음.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"전"(Pre) 이벤트라서 가능한 결과.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JSON — 1단계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8846" y="1877020"/>
            <a:ext cx="11374121" cy="4670084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8847" y="1877020"/>
            <a:ext cx="50292" cy="4670083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303" y="1995892"/>
            <a:ext cx="5989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JSON </a:t>
            </a:r>
            <a:r>
              <a:rPr lang="ko-KR" alt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생성하는 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8302" y="2261068"/>
            <a:ext cx="10873471" cy="428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세팅하는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JSON을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.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settings.json에</a:t>
            </a:r>
            <a:r>
              <a:rPr lang="en-US" altLang="ko-KR" sz="1100" dirty="0"/>
              <a:t>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추가해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줘. 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없으면 새로 생성하고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존재하면 아래 내용을 이슈가 안 생기게 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추가해줘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실습이니까 아래 내용 그대로 빠르게 작업해줘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"hooks":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"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PreToolUse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": [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"matcher": "Write",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"hooks": [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"type": "prompt",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"</a:t>
            </a:r>
            <a:r>
              <a:rPr lang="en-US" altLang="ko-KR" sz="11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statusMessage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": "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검사 중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...",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"prompt": "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쓰기 요청을 검사하라</a:t>
            </a:r>
            <a:r>
              <a:rPr lang="en-US" altLang="ko-KR" sz="110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내용에 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포함되어 있으면 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표기 문서는 이 실습 환경에서 생성할 수 없습니다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사유로 차단하고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허용하라</a:t>
            </a: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}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]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}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]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}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7EBC64B1-5AF5-3A10-4737-B16B6F039A52}"/>
              </a:ext>
            </a:extLst>
          </p:cNvPr>
          <p:cNvSpPr/>
          <p:nvPr/>
        </p:nvSpPr>
        <p:spPr>
          <a:xfrm>
            <a:off x="559139" y="143810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‘5_6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</a:t>
            </a:r>
            <a:r>
              <a:rPr lang="en-US" altLang="ko-KR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_hooks‘ 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폴더 선택 후 아래 프롬프트 입력 </a:t>
            </a:r>
            <a:r>
              <a:rPr lang="en-US" altLang="ko-KR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669280" cy="12344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" cy="12344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1938528"/>
            <a:ext cx="52303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.claude/settings.json에 등록된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hook을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줄로 요약해줘.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16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"Write 도구 사용 전에 대외비 포함 여부를 검사하는 hook" 정도로 설명되면 등록 성공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이상하거나 오류가 나면 JSON 쉼표·따옴표 문제가 대부분 — "문법 오류를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고쳐줘"로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발동시키기 —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차단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79" y="1776519"/>
            <a:ext cx="9232053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76519"/>
            <a:ext cx="50292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95391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5" y="2160567"/>
            <a:ext cx="832679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20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단어가 내용으로 들어간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‘8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회의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제목의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파일을 만들어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저장해줘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폴더 생성해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41A1BF7-2CB1-F1B5-0EE3-B1846F592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673" y="3002194"/>
            <a:ext cx="7725853" cy="3343742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D7975F16-16C0-AD42-6B75-4777E7FCD739}"/>
              </a:ext>
            </a:extLst>
          </p:cNvPr>
          <p:cNvSpPr/>
          <p:nvPr/>
        </p:nvSpPr>
        <p:spPr>
          <a:xfrm>
            <a:off x="690372" y="13596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CLAUDE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30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종료 후 재시작하고 아래 프롬프트 실행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실험 —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79" y="2197268"/>
            <a:ext cx="9934787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7268"/>
            <a:ext cx="50292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31614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581316"/>
            <a:ext cx="93184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공개용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20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단어가 내용으로 들어간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‘8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회의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제목의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파일을 만들어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저장해줘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폴더 생성해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altLang="ko-KR" sz="1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6722178-75A8-36F6-99A9-DB6904FD4590}"/>
              </a:ext>
            </a:extLst>
          </p:cNvPr>
          <p:cNvSpPr/>
          <p:nvPr/>
        </p:nvSpPr>
        <p:spPr>
          <a:xfrm>
            <a:off x="640078" y="1646259"/>
            <a:ext cx="771652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대외비라는 단어가 없는 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생성 요청 프롬프트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분석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81327"/>
            <a:ext cx="10908792" cy="1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정의  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hooks는 Claude Code 라이프사이클(작업 단계)의 </a:t>
            </a: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시점에 자동 </a:t>
            </a:r>
            <a:r>
              <a:rPr lang="en-US" sz="14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셸 명령, HTTP 엔드포인트, 또는 LLM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실습에 개념을 대입해보면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‘Claude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파일을 쓰기 직전이라는 시점에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정한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검사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기준이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LLM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방식으로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실행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3529584"/>
            <a:ext cx="3566160" cy="2286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675888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396849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</a:t>
            </a:r>
            <a:r>
              <a:rPr lang="en-US" sz="14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시점에</a:t>
            </a:r>
            <a:r>
              <a:rPr lang="en-US" sz="14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4370832"/>
            <a:ext cx="31638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접수 → 읽기 → 쓰기 시도 → 응답 종료로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시점에 작동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쓰기 직전 = PreToolUse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3529584"/>
            <a:ext cx="3566160" cy="2286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3675888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17136" y="396849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7136" y="4370832"/>
            <a:ext cx="31638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부탁한 규칙이 아니라 설정에 추가한 장치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요청은 따를지 여부를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판단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발생하고 조건이 맞으면 매번 실행 — </a:t>
            </a:r>
            <a:r>
              <a:rPr 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3529584"/>
            <a:ext cx="3557016" cy="22860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36758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93024" y="39684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93024" y="4370832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검사를 무엇으로 실행할지 고르는 옵션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기준을 자연어 문장으로 쓰는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코드가 없음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 분석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39776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" cy="39776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JSON · 뼈대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1938528"/>
            <a:ext cx="4956048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"hooks": 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"PreToolUse": [ {        ①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"matcher": "Write",    ②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"hooks": [ {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"type": "prompt",     ③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"prompt": "..."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} ]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} ]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}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37333"/>
              </p:ext>
            </p:extLst>
          </p:nvPr>
        </p:nvGraphicFramePr>
        <p:xfrm>
          <a:off x="6400799" y="1691640"/>
          <a:ext cx="5394959" cy="2688336"/>
        </p:xfrm>
        <a:graphic>
          <a:graphicData uri="http://schemas.openxmlformats.org/drawingml/2006/table">
            <a:tbl>
              <a:tblPr/>
              <a:tblGrid>
                <a:gridCol w="481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3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 </a:t>
                      </a:r>
                      <a:r>
                        <a:rPr 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</a:t>
                      </a:r>
                      <a:r>
                        <a:rPr lang="en-US" altLang="ko-KR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hook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</a:t>
                      </a:r>
                      <a:r>
                        <a:rPr 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실행할지 결정하는 옵션</a:t>
                      </a:r>
                      <a:r>
                        <a:rPr lang="en-US" altLang="ko-KR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</a:t>
                      </a:r>
                      <a:r>
                        <a:rPr lang="en-US" altLang="ko-KR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PreToolUse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옵션은</a:t>
                      </a:r>
                      <a:r>
                        <a:rPr 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‘도구 실행 직전’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matcher — 어떤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이벤트마다</a:t>
                      </a:r>
                      <a:r>
                        <a:rPr 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실행되는지 결정하는 옵션</a:t>
                      </a:r>
                      <a:r>
                        <a:rPr lang="en-US" altLang="ko-KR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</a:t>
                      </a:r>
                      <a:r>
                        <a:rPr lang="en-US" altLang="ko-KR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Write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옵션은</a:t>
                      </a:r>
                      <a:r>
                        <a:rPr 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파일 쓰기 도구일 때만 </a:t>
                      </a:r>
                      <a:r>
                        <a:rPr lang="ko-KR" altLang="en-US" sz="140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handler — 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검사를 무엇으로 실행할지 결정하는 옵션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 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옵션은 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코드가 아니라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자연어로 쓴 검사 기준을 모델이 읽고 허용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차단을 판정</a:t>
                      </a:r>
                      <a:endParaRPr lang="en-US" altLang="ko-KR" sz="1400" dirty="0">
                        <a:solidFill>
                          <a:srgbClr val="F4F0E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>
                        <a:buNone/>
                      </a:pPr>
                      <a:endParaRPr lang="en-US" sz="1400" dirty="0">
                        <a:solidFill>
                          <a:srgbClr val="F4F0E1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우리 실습에서 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대외비</a:t>
                      </a:r>
                      <a:r>
                        <a:rPr lang="en-US" altLang="ko-KR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라는 단어가 있는 문서 생성은 차단하라는 것처럼 판정 여부를 자연어로 기술함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799" y="4754880"/>
            <a:ext cx="5148072" cy="155448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1967" y="4901184"/>
            <a:ext cx="47457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matcher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이용한 검사 실행 관련 결정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Handler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허용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차단을 결정</a:t>
            </a:r>
            <a:endParaRPr lang="en-US" altLang="ko-KR" sz="1400" dirty="0">
              <a:latin typeface="Malgun Gothic" charset="0"/>
              <a:ea typeface="Malgun Gothic" charset="0"/>
              <a:cs typeface="Malgun Gothic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3단계 — 차단은 어떻게 강제되는가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199"/>
            <a:ext cx="3566160" cy="4792134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4650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0391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41448"/>
            <a:ext cx="316382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발생 시 상황 정보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경로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우리가 쓴 지시문과 함께 판정 모델에 자동 전달</a:t>
            </a: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15968" y="1600199"/>
            <a:ext cx="3566160" cy="4792134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74650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17136" y="20391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7136" y="2441447"/>
            <a:ext cx="3163824" cy="25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경량 모델이 지시문대로 검사하고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결정하고 사유를 반환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대화 중인 </a:t>
            </a:r>
            <a:r>
              <a:rPr lang="en-US" altLang="ko-KR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아닌 제</a:t>
            </a:r>
            <a:r>
              <a:rPr lang="en-US" altLang="ko-KR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 판정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(main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넘어가 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부탁해도 소용 없는 이유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1600199"/>
            <a:ext cx="3557016" cy="4792134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7465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93024" y="20391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endParaRPr lang="en-US" sz="1600" dirty="0">
              <a:solidFill>
                <a:srgbClr val="FFD7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93024" y="2441448"/>
            <a:ext cx="3154680" cy="297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판정 시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Claude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가 그 판정을 존중해서 멈추는 게 아님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시스템이 도구 호출을 아예 실행하지 않는 방식</a:t>
            </a: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이게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"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프롬프트 요청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"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과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"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장치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"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의 차이이고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실행이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100%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보장되는 이유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08792" cy="727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차단되는 사유를 만나면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 하거나 대화를 이어가도록 만들기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실습은 바로 차단만 됨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"차단 → 사유 전달 →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확인 요청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재시도 → 통과"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경험하는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5779"/>
            <a:ext cx="10908792" cy="3204125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032084"/>
            <a:ext cx="10506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324691"/>
            <a:ext cx="10506456" cy="267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국문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자료를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영문 번역해 translation_en.md로 저장하는 업무.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예를 들어 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'얽힘'이 entanglement가 아니라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twisting으로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되면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막아야 하는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6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Hook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이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오역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자체를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불가능하게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오역된 내용을 스스로 수정하거나 사용자에게 문의하는 식으로 다음 대화를 </a:t>
            </a:r>
            <a:r>
              <a:rPr lang="ko-KR" alt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이어나감</a:t>
            </a:r>
            <a:endParaRPr lang="en-US" altLang="ko-KR" sz="16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단어 번역을 검증하는 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파일에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08792" cy="38303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" cy="383032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5" y="1938527"/>
            <a:ext cx="10127267" cy="279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altLang="ko-KR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PreToolUse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배열에 있는 기존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hook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그룹의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맨 뒤에 아래 블록을 추가해줘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지우지 말고 유지해줘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0000"/>
              </a:lnSpc>
            </a:pPr>
            <a:endParaRPr lang="en-US" sz="12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"type": "prompt",</a:t>
            </a: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"if": "Write(**/*translation_en.txt)",</a:t>
            </a: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continueOnBlock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": true,</a:t>
            </a: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statusMessage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": "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전문용어 검증 중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...",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prompt": "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쓰기 요청을 검사하라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번역에서 양자역학 전문용어가 아래 대조표대로 번역되었는지 확인하라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.\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n\n[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번역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]\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얽힘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entanglement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superposition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파동함수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function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measurement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불확정성 원리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uncertainty principle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관측자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observer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붕괴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collapse /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→ 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quantization\n\n[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차단해야 할 오역 예시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]\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nquantum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twisting, quantum overlap, wave equation, disagreement principle, watcher, state destruction, quantum sizing\n\n-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오역이 하나라도 있으면 차단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deny)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사유에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용어 → 올바른 용어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목록을 적어라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.\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n-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용어가 올바르면 허용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allow)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2868" y="5602224"/>
            <a:ext cx="446227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실습에서 추가된</a:t>
            </a:r>
            <a:r>
              <a:rPr 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if 필터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 </a:t>
            </a:r>
            <a:r>
              <a:rPr 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translation_en.txt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파일명을 적어서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파일명으로 파일을 만들 때만 작동</a:t>
            </a:r>
            <a:endParaRPr lang="en-US" sz="12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3ECE332-EBE5-02E4-EF13-1556E76C2375}"/>
              </a:ext>
            </a:extLst>
          </p:cNvPr>
          <p:cNvSpPr/>
          <p:nvPr/>
        </p:nvSpPr>
        <p:spPr>
          <a:xfrm>
            <a:off x="6299202" y="5602224"/>
            <a:ext cx="446227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실습에서 추가된</a:t>
            </a:r>
            <a:r>
              <a:rPr 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continueOnBlock</a:t>
            </a:r>
            <a:r>
              <a:rPr 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필터</a:t>
            </a:r>
            <a:endParaRPr lang="en-US" sz="1250" dirty="0"/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사유를 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</a:t>
            </a:r>
            <a:r>
              <a:rPr lang="ko-KR" altLang="en-US" sz="115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되돌려줌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true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대화가 그대로 이어져서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Claude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사유를 보고 수정하거나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좋을지</a:t>
            </a:r>
            <a:r>
              <a:rPr lang="en-US" altLang="ko-KR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물어볼 것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오역본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하려고 하면 어떤 반응 보이는지 확인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2574544"/>
            <a:ext cx="10908793" cy="1730588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74544"/>
            <a:ext cx="50292" cy="1730581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69341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958592"/>
            <a:ext cx="10657578" cy="1166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샘플논문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양자얽힘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.md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초록을 영문으로 번역해서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샘플논문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양자얽힘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_translation_en.txt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전문용어를 그대로 쓰지 말고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비전공자도 이해할 수 있게 일상적인 영어 표현으로 풀어서 번역해줘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.(output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없으면 만들어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lnSpc>
                <a:spcPct val="130000"/>
              </a:lnSpc>
            </a:pPr>
            <a:endParaRPr lang="en-US" altLang="ko-KR" sz="12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(hook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실습이니까 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얽힘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twisting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파동함수 붕괴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function destruction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번역해서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발동되도록 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79" y="4862913"/>
            <a:ext cx="10806853" cy="121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파일을 읽는 동안에는 hook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침묵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matcher(Write)에 걸리지 않음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저장하려는 순간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Write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시에 발동하라는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matcher 일치 → if의 파일명 일치 → 용어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2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F7C0906-CAA8-10D6-95D9-D0EF4D532F0A}"/>
              </a:ext>
            </a:extLst>
          </p:cNvPr>
          <p:cNvSpPr/>
          <p:nvPr/>
        </p:nvSpPr>
        <p:spPr>
          <a:xfrm>
            <a:off x="640080" y="1481327"/>
            <a:ext cx="10908792" cy="82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양자역학 관련 초록을 영문으로 번역하라고 지시하고 잘못된 번역을 파일로 저장하려고 하면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동작하는지 확인하기</a:t>
            </a: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Claude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번역을 너무 정확하게 해서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실습이니까 전문 용어를 일부러 일상 단어로 </a:t>
            </a:r>
            <a:r>
              <a:rPr lang="ko-KR" alt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오번역하라고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이후에 벌어지는 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918411" cy="960120"/>
          </a:xfrm>
          <a:prstGeom prst="rect">
            <a:avLst/>
          </a:prstGeom>
          <a:solidFill>
            <a:srgbClr val="121008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1918411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시도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(오역)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21915" y="1645920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7675" y="1645920"/>
            <a:ext cx="1918411" cy="960120"/>
          </a:xfrm>
          <a:prstGeom prst="rect">
            <a:avLst/>
          </a:prstGeom>
          <a:solidFill>
            <a:srgbClr val="121008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7675" y="1645920"/>
            <a:ext cx="1918411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Deny +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9510" y="1645920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35270" y="1645920"/>
            <a:ext cx="1918411" cy="960120"/>
          </a:xfrm>
          <a:prstGeom prst="rect">
            <a:avLst/>
          </a:prstGeom>
          <a:solidFill>
            <a:srgbClr val="121008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5270" y="1645920"/>
            <a:ext cx="1918411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또는 확인 요청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7106" y="1645920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82866" y="1645920"/>
            <a:ext cx="1918411" cy="960120"/>
          </a:xfrm>
          <a:prstGeom prst="rect">
            <a:avLst/>
          </a:prstGeom>
          <a:solidFill>
            <a:srgbClr val="121008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2866" y="1645920"/>
            <a:ext cx="1918411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64701" y="1645920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30461" y="1645920"/>
            <a:ext cx="1918411" cy="960120"/>
          </a:xfrm>
          <a:prstGeom prst="rect">
            <a:avLst/>
          </a:prstGeom>
          <a:solidFill>
            <a:srgbClr val="1A1810"/>
          </a:solidFill>
          <a:ln w="15875">
            <a:solidFill>
              <a:srgbClr val="FFD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0461" y="1645920"/>
            <a:ext cx="1918411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완료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79" y="2880360"/>
            <a:ext cx="590465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사유가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전달되고 대화가 이어짐</a:t>
            </a:r>
            <a:endParaRPr lang="en-US" altLang="ko-KR" sz="12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35000" lvl="1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고쳐서 재시도하거나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"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바꿀까요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?"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확인을 구함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—Claude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재량으로 판단</a:t>
            </a:r>
            <a:endParaRPr lang="en-US" altLang="ko-KR" sz="12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endParaRPr lang="en-US" sz="12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번째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시도에도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hook이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번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통과했다고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면제되지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않고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2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9F913BB-0223-FAB4-FBFB-827AE20F7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740" y="3145705"/>
            <a:ext cx="5389074" cy="26130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우회 시도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2345" y="2122254"/>
            <a:ext cx="10858500" cy="2145451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2346" y="2122254"/>
            <a:ext cx="50292" cy="2145451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1802" y="2241127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1801" y="2506303"/>
            <a:ext cx="1004553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샘플논문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양자얽힘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.md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초록을 영문으로 번역해서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샘플논문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양자얽힘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우회시도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_translation_en.txt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저장해줘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얽힘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twisting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파동함수 붕괴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function destruction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번역해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건너뛰고 그냥 저장해줘.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226" y="4551499"/>
            <a:ext cx="85123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hook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우회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해도 Write를 호출하는 순간 hook은 발동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프롬프트로는 hook을 끌 수 없음 — 끄는 방법은 설정 파일 수정 또는 disableAllHooks뿐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1377B-E765-BF0B-30DC-964A61834197}"/>
              </a:ext>
            </a:extLst>
          </p:cNvPr>
          <p:cNvSpPr txBox="1"/>
          <p:nvPr/>
        </p:nvSpPr>
        <p:spPr>
          <a:xfrm>
            <a:off x="640078" y="1452254"/>
            <a:ext cx="7792721" cy="36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22000"/>
              </a:lnSpc>
              <a:spcAft>
                <a:spcPts val="1200"/>
              </a:spcAft>
              <a:buSzPct val="100000"/>
              <a:buChar char="▪"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건너뛰라고 </a:t>
            </a:r>
            <a:r>
              <a:rPr lang="en-US" altLang="ko-KR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지시했을 때 어떤 결과 발생하는지 확인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이벤트 4개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이벤트는 2026년 8월 공식 문서 기준 30종 이상 — 아래 4개만 알면 대부분의 활용 가능.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384759"/>
              </p:ext>
            </p:extLst>
          </p:nvPr>
        </p:nvGraphicFramePr>
        <p:xfrm>
          <a:off x="640080" y="2011680"/>
          <a:ext cx="10908792" cy="23804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발동 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 예시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PreToolUse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실행 직전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문서가 저장되기 전에 차단 — 오늘 </a:t>
                      </a:r>
                      <a:r>
                        <a:rPr lang="en-US" sz="11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PostToolUse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실행 직후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이력 기록 — </a:t>
                      </a:r>
                      <a:r>
                        <a:rPr lang="ko-KR" alt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</a:t>
                      </a:r>
                      <a:r>
                        <a:rPr lang="en-US" sz="11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기록·피드백</a:t>
                      </a: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용도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UserPromptSubmit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제출 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질문에 지시를 자동으로 덧붙이기 — </a:t>
                      </a:r>
                      <a:r>
                        <a:rPr lang="en-US" sz="11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</a:t>
                      </a: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주입</a:t>
                      </a: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종료 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산출물이 다 나왔는지 확인하고</a:t>
                      </a:r>
                      <a:r>
                        <a:rPr lang="en-US" altLang="ko-KR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ko-KR" alt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게 있으면 끝내지 못하게 함</a:t>
                      </a: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종료 전 </a:t>
                      </a:r>
                      <a:r>
                        <a:rPr lang="en-US" sz="1150" dirty="0" err="1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150" dirty="0">
                        <a:solidFill>
                          <a:srgbClr val="F4F0E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최대 </a:t>
                      </a:r>
                      <a:r>
                        <a:rPr lang="en-US" altLang="ko-KR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8</a:t>
                      </a:r>
                      <a:r>
                        <a:rPr lang="ko-KR" altLang="en-US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회 시도</a:t>
                      </a:r>
                      <a:r>
                        <a:rPr lang="en-US" altLang="ko-KR" sz="11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983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거</a:t>
            </a: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느냐에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</a:t>
            </a: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성격이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달라짐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실습에 적용하면 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PreToolUse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사용하면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생성하기 전에 차단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＂,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PostToolUse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＂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지적받음". 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외에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66160" cy="265176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3794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완료 알림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130552"/>
            <a:ext cx="316382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 · Notification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작업을 시켜 두고 자리를 비워도, 끝나거나 승인이 필요한 순간에 알림을 받는 방식.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265176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183794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변경 저장</a:t>
            </a: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17136" y="2130552"/>
            <a:ext cx="316382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PostToolUse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저장할 때마다 누가 언제 무엇을 바꿨는지 이력 파일에 자동 기록.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소명이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1856" y="1691640"/>
            <a:ext cx="3557016" cy="265176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8379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전 검증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3024" y="2130552"/>
            <a:ext cx="31546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 + prompt hook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0000"/>
              </a:lnSpc>
            </a:pP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끝내기 전 "필수 산출물이 다 만들어졌는가"를 검사해, 미완성이면 계속 일하게 만드는 조합.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여비규정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 agent hook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08792" cy="137160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00784"/>
            <a:ext cx="10506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10506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실습자료의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‘KISTI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여비규정’에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맞는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산정서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검토하고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규정에 맞는 산정서만 결과를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travel_expense.txt로</a:t>
            </a:r>
            <a:r>
              <a:rPr 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908792" cy="2935224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300984"/>
            <a:ext cx="10506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</a:t>
            </a: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kern="0" spc="25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실습과의</a:t>
            </a:r>
            <a:r>
              <a:rPr lang="en-US" sz="14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kern="0" spc="25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3593591"/>
            <a:ext cx="10506456" cy="2350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양자역학 용어처럼 짧은 검증 기준은 프롬프트 안에 다 넣을 수 있었지만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규정 검증처럼 참조할 문서가 크면 파일을 직접 읽어야 함</a:t>
            </a:r>
            <a:endParaRPr lang="en-US" altLang="ko-KR" sz="16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r>
              <a:rPr lang="ko-KR" altLang="en-US" sz="16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타입을 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변경</a:t>
            </a:r>
            <a:endParaRPr lang="en-US" sz="16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파일을 읽고 검색하는 등 도구를 쓰는 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띄울 수 있음 </a:t>
            </a:r>
            <a:endParaRPr lang="en-US" altLang="ko-KR" sz="16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(prompt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단일 호출이라 도구 사용 불가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규정이 바뀌면 규정 파일만 갱신하면 되고 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설정은 그대로 유지하면 됨</a:t>
            </a:r>
            <a:endParaRPr lang="en-US" altLang="ko-KR" sz="16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(prompt </a:t>
            </a:r>
            <a:r>
              <a:rPr lang="ko-KR" altLang="en-US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방식으로 한다면 규정이 바뀔 때마다 설정 파일의 지시문을 고쳐야 함</a:t>
            </a:r>
            <a:r>
              <a:rPr lang="en-US" altLang="ko-KR" sz="16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D156F-0A08-BDF2-DA9A-8009987E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8D55D56-C8FF-8E07-7FBF-D6401FB184D5}"/>
              </a:ext>
            </a:extLst>
          </p:cNvPr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913A5F-6A37-5BFE-0500-1653244A4DA1}"/>
              </a:ext>
            </a:extLst>
          </p:cNvPr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ko-KR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 hook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파일에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94AB64-75F5-544B-D131-99293833CAE4}"/>
              </a:ext>
            </a:extLst>
          </p:cNvPr>
          <p:cNvSpPr/>
          <p:nvPr/>
        </p:nvSpPr>
        <p:spPr>
          <a:xfrm>
            <a:off x="640080" y="1554480"/>
            <a:ext cx="10908792" cy="32715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775130-7730-A78D-0D19-00D30C318F54}"/>
              </a:ext>
            </a:extLst>
          </p:cNvPr>
          <p:cNvSpPr/>
          <p:nvPr/>
        </p:nvSpPr>
        <p:spPr>
          <a:xfrm>
            <a:off x="640080" y="1554480"/>
            <a:ext cx="45719" cy="327152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CF8EA1-1F48-061D-723B-B290CCB96AD3}"/>
              </a:ext>
            </a:extLst>
          </p:cNvPr>
          <p:cNvSpPr/>
          <p:nvPr/>
        </p:nvSpPr>
        <p:spPr>
          <a:xfrm>
            <a:off x="859536" y="167335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5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kumimoji="0" lang="en-US" sz="9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DA9276-FB57-0E8D-E3A0-159762A7B3AD}"/>
              </a:ext>
            </a:extLst>
          </p:cNvPr>
          <p:cNvSpPr/>
          <p:nvPr/>
        </p:nvSpPr>
        <p:spPr>
          <a:xfrm>
            <a:off x="859535" y="1938527"/>
            <a:ext cx="10426532" cy="279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PreToolUse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배열에 있는 기존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hook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맨 뒤에 아래 블록을 추가해줘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지우지 말고 유지해줘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</a:p>
          <a:p>
            <a:pPr lvl="0"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"type": "agent",</a:t>
            </a:r>
          </a:p>
          <a:p>
            <a:pPr lvl="0"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"if": "Write(**/*travel_expense.txt)",</a:t>
            </a:r>
          </a:p>
          <a:p>
            <a:pPr lvl="0"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</a:t>
            </a:r>
            <a:r>
              <a:rPr lang="en-US" altLang="ko-KR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statusMessage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": "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 규정 검증 중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...",</a:t>
            </a:r>
          </a:p>
          <a:p>
            <a:pPr lvl="0"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"prompt": "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 정산서 파일 쓰기 요청을 검사하라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‘02_KISTI_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여비규정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.html’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직접 읽고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정산서의 대상 구분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근속연수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식비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숙박비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형태가 규정의 각 조항과 맞는지 대조하라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.\n-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위반이 있으면 차단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(deny)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사유에 위반한 조항 번호와 올바른 기준을 적어라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.\n- 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항목이 규정에 맞으면 허용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(allow)</a:t>
            </a:r>
            <a:r>
              <a:rPr lang="ko-KR" alt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</a:t>
            </a: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</a:p>
          <a:p>
            <a:pPr lvl="0">
              <a:lnSpc>
                <a:spcPct val="130000"/>
              </a:lnSpc>
            </a:pPr>
            <a:r>
              <a:rPr lang="en-US" altLang="ko-KR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4F0E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4F0E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CD94342-3FD4-0ABA-C535-2D6E51C5792D}"/>
              </a:ext>
            </a:extLst>
          </p:cNvPr>
          <p:cNvSpPr/>
          <p:nvPr/>
        </p:nvSpPr>
        <p:spPr>
          <a:xfrm>
            <a:off x="685798" y="5183971"/>
            <a:ext cx="11142135" cy="1060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실습 </a:t>
            </a:r>
            <a:r>
              <a:rPr lang="en-US" sz="16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hook과</a:t>
            </a:r>
            <a:r>
              <a:rPr 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달라진 곳 </a:t>
            </a:r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—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여기서는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Read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열람하는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용도로 사용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177800" indent="-177800">
              <a:lnSpc>
                <a:spcPct val="122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산정서가 규정에 맞는지 대조하고 확인하라고 함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 하는 규칙을 프롬프트에 다 넣지 않음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65570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A — 정상 케이스 (통과)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79" y="1554480"/>
            <a:ext cx="10730654" cy="14173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60624" cy="141732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5" y="1673352"/>
            <a:ext cx="63379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5" y="1938528"/>
            <a:ext cx="9899893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근속 7년차 내부 연구원의 1박 2일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서를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숙박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영수증은 88,000원이야. 02번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계산해줘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년차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김철수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travel_expense.txt로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저장해줘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.(output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없으면 만들어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79" y="3246120"/>
            <a:ext cx="1073776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2000"/>
              </a:lnSpc>
              <a:spcAft>
                <a:spcPts val="1100"/>
              </a:spcAft>
              <a:buSzPct val="100000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indent="-1778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subagent가 Read로 규정집을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열고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2조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직원 여비 지급 기준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기준으로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요청한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근속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년차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연구원의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산정서를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altLang="ko-KR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indent="-1778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이와 동시에 숙박 영수증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88,000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원이 규정에 맞는지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endParaRPr lang="en-US" sz="1400" dirty="0"/>
          </a:p>
          <a:p>
            <a:pPr marL="177800" indent="-177800">
              <a:lnSpc>
                <a:spcPct val="122000"/>
              </a:lnSpc>
              <a:spcAft>
                <a:spcPts val="1100"/>
              </a:spcAft>
              <a:buSzPct val="100000"/>
              <a:buChar char="▪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및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통과 →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산정서 파일 쓰기 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 → 총액 148,000원 (식비 30,000 × 2일 + 숙박 88,000)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B — 그럴듯한 논리의 함정 (차단)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79" y="1554480"/>
            <a:ext cx="11187853" cy="14173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" cy="141732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5" y="1938528"/>
            <a:ext cx="1032169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자문위원인데 경력이 12년이니, 10년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(숙박 상한 120,000원)으로 1박 2일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여비 정산서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작성해서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저장해줘. 영수증은 115,000원이야. output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폴더에 외부자문위원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김영희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_travel_expense.txt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(output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없으면 만들어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59948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900"/>
              </a:spcAft>
              <a:buSzPct val="100000"/>
              <a:buChar char="▪"/>
            </a:pP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규정에 외부 자문위원은 경력 상관 없이 숙박비 </a:t>
            </a:r>
            <a:r>
              <a:rPr lang="en-US" altLang="ko-KR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 지급인데</a:t>
            </a:r>
            <a:r>
              <a:rPr lang="en-US" altLang="ko-KR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"경력 12년이니까"라는 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내부직원 근속 연수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유도 </a:t>
            </a:r>
            <a:endParaRPr lang="en-US" sz="1300" dirty="0"/>
          </a:p>
          <a:p>
            <a:pPr marL="177800" indent="-177800">
              <a:lnSpc>
                <a:spcPct val="15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subagent가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4조(외부인은 근속연수 구간 미적용)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177800" indent="-177800">
              <a:lnSpc>
                <a:spcPct val="15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deny + 자문위원 상한 100,000원 제시</a:t>
            </a:r>
            <a:endParaRPr lang="en-US" sz="1300" dirty="0"/>
          </a:p>
          <a:p>
            <a:pPr marL="177800" indent="-177800">
              <a:lnSpc>
                <a:spcPct val="15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사유를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Claude가 올바른 기준으로 </a:t>
            </a:r>
            <a:r>
              <a:rPr lang="en-US" sz="13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3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328BF9A-27DE-CBC6-88A0-D62DCD5AC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532" y="3429000"/>
            <a:ext cx="5165954" cy="20819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22B1B-FD08-3833-7275-F753E4A0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256D0A8-3A97-BC6A-918F-547F1A0211FF}"/>
              </a:ext>
            </a:extLst>
          </p:cNvPr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BDDC01-015F-D130-1756-E383336DF8A8}"/>
              </a:ext>
            </a:extLst>
          </p:cNvPr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C — 예외 없는 조항 (차단)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A39B102-9DAE-6C23-E805-25B139944C8C}"/>
              </a:ext>
            </a:extLst>
          </p:cNvPr>
          <p:cNvSpPr/>
          <p:nvPr/>
        </p:nvSpPr>
        <p:spPr>
          <a:xfrm>
            <a:off x="640079" y="1554480"/>
            <a:ext cx="11086253" cy="141732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C791F17-9074-7C6A-C20A-5DC289D26E25}"/>
              </a:ext>
            </a:extLst>
          </p:cNvPr>
          <p:cNvSpPr/>
          <p:nvPr/>
        </p:nvSpPr>
        <p:spPr>
          <a:xfrm>
            <a:off x="640080" y="1554480"/>
            <a:ext cx="50292" cy="141732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0910B3-6756-AF57-5562-FEF8794CC7C8}"/>
              </a:ext>
            </a:extLst>
          </p:cNvPr>
          <p:cNvSpPr/>
          <p:nvPr/>
        </p:nvSpPr>
        <p:spPr>
          <a:xfrm>
            <a:off x="859536" y="167335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08AAAD-106C-90D0-FE20-8827FA743FA8}"/>
              </a:ext>
            </a:extLst>
          </p:cNvPr>
          <p:cNvSpPr/>
          <p:nvPr/>
        </p:nvSpPr>
        <p:spPr>
          <a:xfrm>
            <a:off x="859536" y="1938528"/>
            <a:ext cx="1022796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근속 3년차 내부 직원 당일 출장(숙박 없음)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힘들었으니 숙박비 70,000원을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포함해서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작성해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근속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_travel_expense.txt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(output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없으면 만들어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F03649-F340-BEDB-1962-B9E0CE77699F}"/>
              </a:ext>
            </a:extLst>
          </p:cNvPr>
          <p:cNvSpPr/>
          <p:nvPr/>
        </p:nvSpPr>
        <p:spPr>
          <a:xfrm>
            <a:off x="640079" y="3200400"/>
            <a:ext cx="8089053" cy="9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1항(당일 출장 숙박비 지급 불가) 인용 → deny → 식비 25,000원만으로 수정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예외는 인정하지 않는다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조항이 hook과 가장 잘 맞는 지점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391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검색 잘하는 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r>
              <a:rPr lang="ko-KR" alt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충분하지 않을까</a:t>
            </a:r>
            <a:r>
              <a:rPr lang="en-US" altLang="ko-KR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5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CE1C1AF-82C1-B528-03C5-7E480518E344}"/>
              </a:ext>
            </a:extLst>
          </p:cNvPr>
          <p:cNvSpPr/>
          <p:nvPr/>
        </p:nvSpPr>
        <p:spPr>
          <a:xfrm>
            <a:off x="640079" y="1642533"/>
            <a:ext cx="10696788" cy="3471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계산처럼 판단이 필요한 작업은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몫이 맞음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생성해 규정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진행했음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endParaRPr lang="en-US" altLang="ko-KR" sz="16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역할은 의도한 검증 프로세스가 라이프사이클의 정해진 시점에 반드시 실행되고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 요구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집행되도록 보장하는 것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로직 자체의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판별력은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훅 스크립트 설계에 달려 있음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endParaRPr lang="en-US" altLang="ko-KR" sz="16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일하고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검사 실행을 강제하는 분업으로 규정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봇을 만들면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인용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수행 여부 같은 체크 가능한 항목의 준수율이 결정론적으로 보장되어 정확도가 올라감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 5종 — 2026년 8월 공식 문서 기준</a:t>
            </a:r>
            <a:endParaRPr lang="en-US" sz="2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25237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3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실행되는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command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셸 명령·스크립트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오래된 방식 — 결정론적 검사에 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서버로 HTTP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시스템 연동용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mcp_tool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연결된 MCP 서버의 도구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상반기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경량 모델 1회 호출로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주력 — 검사 기준을 자연어로 (기본 30초)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쓰는 검증 subagent 소환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심화 — 실험적 (기본 60초)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4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4348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인터넷의 hooks 예제 대부분은 command 타입 — hooks가 개발자 전용처럼 보이는 이유</a:t>
            </a:r>
            <a:endParaRPr lang="en-US" sz="1200" dirty="0"/>
          </a:p>
          <a:p>
            <a:pPr marL="177800" indent="-177800">
              <a:lnSpc>
                <a:spcPct val="12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prompt·agent 추가로 검사 기준을 자연어로 쓰는 길이 열림 —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12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4A4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6809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판정의</a:t>
            </a:r>
            <a:r>
              <a:rPr lang="en-US" sz="2500" b="1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554479"/>
            <a:ext cx="10908792" cy="356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hook의 판정도 결국 LLM — hook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allow/deny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자체는 틀릴 수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보장하는 것은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635000" lvl="1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정한 이벤트 순간에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반드시 실행되고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</a:t>
            </a: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35000" lvl="1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금일 실습에서 특정 파일명 형태로 저장할 때 반드시 실행하도록 한 것처럼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>
              <a:lnSpc>
                <a:spcPct val="150000"/>
              </a:lnSpc>
              <a:spcAft>
                <a:spcPts val="1000"/>
              </a:spcAft>
              <a:buSzPct val="100000"/>
            </a:pPr>
            <a:endParaRPr lang="en-US" sz="1400" dirty="0">
              <a:solidFill>
                <a:srgbClr val="F4F0E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</a:t>
            </a:r>
            <a:r>
              <a:rPr 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r>
              <a:rPr lang="ko-KR" altLang="en-US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론적인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판단이</a:t>
            </a:r>
            <a:r>
              <a:rPr 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필요하면 command hook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필요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2847</Words>
  <Application>Microsoft Office PowerPoint</Application>
  <PresentationFormat>와이드스크린</PresentationFormat>
  <Paragraphs>341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</cp:lastModifiedBy>
  <cp:revision>1</cp:revision>
  <dcterms:created xsi:type="dcterms:W3CDTF">2026-08-15T00:58:39Z</dcterms:created>
  <dcterms:modified xsi:type="dcterms:W3CDTF">2026-09-14T04:18:29Z</dcterms:modified>
</cp:coreProperties>
</file>