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4" r:id="rId19"/>
    <p:sldId id="274" r:id="rId20"/>
    <p:sldId id="276" r:id="rId21"/>
    <p:sldId id="275" r:id="rId22"/>
    <p:sldId id="277" r:id="rId23"/>
    <p:sldId id="279" r:id="rId24"/>
    <p:sldId id="281" r:id="rId25"/>
    <p:sldId id="280" r:id="rId26"/>
    <p:sldId id="278" r:id="rId27"/>
    <p:sldId id="282" r:id="rId2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513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오늘 실습으로 만들 결과물과 전체 흐름을 한 줄로 안내함.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전 준비물 확인. Cowork은 유료 플랜에서만 제공됨. VS Code가 없으면 Cowork에 파일 작업을 맡기는 대안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실습의 목표 세 가지를 제시함.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회의록과 출력 형태를 비교해 오늘 만들 결과물을 구체화함. 가능하면 이 슬라이드 전에 완성본 라이브 시연 1분 진행 — 검증 결과 파일이 생성되는 장면까지 보여주면 몰입도가 높아짐.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흐름을 먼저 보여준 뒤 단계별 실습으로 진입함.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폴더를 실습 폴더로 좁혀 두면 파일 접근 범위가 명확해짐.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CLAUDE.md에 상시 규칙을 고정하고, 검증 절차는 다음 단계에서 스킬로 분리함.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skill-creator 호출 방법 두 가지를 제시함.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절차, 입력 형식, 스킬 이름, 트리거 문장을 함께 전달함.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상시 규칙과 선택적 절차의 구분이 이번 단계의 핵심임.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스킬이 계정에 등록되어야 이후 슬래시 명령으로 호출 가능함.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 폴더 구성을 직접 확인하는 단계임.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검증 실행으로 스킬 동작을 확인함.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 수정 프롬프트를 그대로 사용해 출력 방식을 변경함.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교체 시 복구가 되지 않으므로 반영 전 확인이 필요함.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 수정이 실제 동작에 반영되었는지 확인함.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예약 작업 생성 명령과 실습용 시간 설정 방법을 안내함.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A1A0-F9BF-5E95-F235-C36EA83F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49D61-9E1E-E62B-60A0-CB827AD4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B066F-6510-0719-D4E7-B1BFF80E6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모드 명칭은 화면 문구를 기준으로 안내함.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47D75-9D73-D793-53F6-6ADC4036E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653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모드 명칭은 화면 문구를 기준으로 안내함.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예약 작업의 실행 환경과 지연 가능성을 안내함. 클라우드 실행이 기본이나 로컬 폴더 작업은 예외임.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절차 생략(자동 실행)을 가르치는 직후에 안전 수칙을 배치함. 공공기관 수강생 대상이므로 보안 정책 확인 항목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실행 결과를 파일 단위로 확인함.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종료 후 정리 단계임.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패턴을 수강생 각자의 업무로 옮기는 확장 슬라이드. 스킬 녹화는 Mac 한정 참고 정보임.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실습을 마친 뒤 경험한 요소에 이름을 붙이는 회고 슬라이드. 개념을 먼저 정의하지 않고 경험 후 명명하는 방식.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정답표 대조 실습. 검출·누락·오검출 세 관점은 사실상 간이 평가(eval) 개념을 용어 없이 전달하는 장치임. 회의록 2의 정상 날짜는 오검출 확인용.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자주 막히는 지점을 한 화면에 정리함.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실습으로 시작하는 AI 에이전트 입문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801868" y="2450592"/>
            <a:ext cx="585216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9748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34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</a:t>
            </a:r>
            <a:r>
              <a:rPr lang="ko-KR" alt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</a:t>
            </a: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만드는</a:t>
            </a:r>
            <a:endParaRPr lang="en-US" sz="3400" dirty="0"/>
          </a:p>
          <a:p>
            <a:pPr marL="0" indent="0" algn="ctr">
              <a:lnSpc>
                <a:spcPct val="129000"/>
              </a:lnSpc>
              <a:buNone/>
            </a:pP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검증 에이전트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31596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회의록의 숫자·날짜 오류를 대신 찾아 주는 에이전트 구축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60807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· Cowork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최신 버전 설치</a:t>
            </a:r>
            <a:r>
              <a:rPr lang="en-US" sz="20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로그인 상태 유지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요금제(Pro 이상) 계정 준비</a:t>
            </a:r>
            <a:r>
              <a:rPr lang="en-US" sz="20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Cowork은 유료 플랜 전용 기능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설치 및 실행 확인</a:t>
            </a:r>
            <a:r>
              <a:rPr lang="en-US" sz="20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CLAUDE.md와 스킬 파일을 직접 열어 편집하는 용도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 </a:t>
            </a: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자료 </a:t>
            </a:r>
            <a:r>
              <a:rPr lang="en-US" sz="20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내려받기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</a:t>
            </a:r>
            <a:r>
              <a:rPr lang="en-US" sz="11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</a:t>
            </a: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시간 목표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회의록에서 확인이 필요한 부분을 대신 짚어 주는 에이전트 구축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817352" cy="11155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적용할 규칙은 CLAUDE.md에 고정하고, </a:t>
            </a:r>
            <a:r>
              <a:rPr lang="ko-KR" alt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때마다 사용하는 규칙은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스킬로 분리하기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3346704"/>
            <a:ext cx="10817352" cy="11155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502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803904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skill-creator로 검증 스킬을 생성하고, 생성된 스킬을 직접 수정하기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681728"/>
            <a:ext cx="10817352" cy="11155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837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5138928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작업으로 반복 검증을 자동 실행하고, 결과를 정답표와 대조해 점검하기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 —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틀린 내용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5074920" cy="30632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64592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회의록.txt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05256" y="1920240"/>
            <a:ext cx="463600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[2026 데이터 인프라 예산 배분 회의]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4.8억 / 2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3.0억 / 3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1.7억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합계: 10.0억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45% / 장비비 30% / 운영비 20%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일시: 2026년 3월 13일(목)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33872" y="27386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82512" y="1481328"/>
            <a:ext cx="5074920" cy="30632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64592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· 확인 필요 목록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1968" y="1920240"/>
            <a:ext cx="463600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항목 합 9.5억으로, 명시된 합계 10.0억과 불일치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비율 합 95%로, 100%와 불일치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2026년 3월 13일은 금요일이나 '목'으로 표기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출력 — 핵심 요약(한 줄)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인프라 사업 예산 10억 원을 3개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세부과제에 배분하고, 비목별 집행계획을 확정함.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754880"/>
            <a:ext cx="10817352" cy="105156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513892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—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회의록마다 숫자·날짜·건수를 전수 대조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 —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전 건을 일괄 점검하고, 사람은 '확인 필요' 목록만 판단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고정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생성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수정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검증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 지정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CLAUDE.md에 상시 규칙 기록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문체·요약 규칙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skill-creator로 검증 스킬 생성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회의록 1건으로 동작 확인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수정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검증 결과를 파일로 저장하도록 확장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작업으로 자동 실행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폴더의 회의록을 정해진 시각에 일괄 검증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결과를 정답표와 대조해 스킬 평가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실습용 예약 작업 삭제 및 정리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58064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산출물이 다음 단계의 입력이 되는 구조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세션 시작 및 작업 폴더 지정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799" y="1600200"/>
            <a:ext cx="8509001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상자에서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또는 폴더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-&gt;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시간 강의 자료 폴더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‘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실습자료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기본값인 Sonnet 계열 유지 — 실습 소요 시간 고려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85800" y="58064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지정하면 해당 폴더의 파일을 직접 읽고 쓰며, 폴더별 지시사항도 함께 적용</a:t>
            </a:r>
            <a:endParaRPr lang="en-US" sz="10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558746-F387-5118-CCB5-E0D407C4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74" y="2957765"/>
            <a:ext cx="6878010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규칙 고정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규칙을 CLAUDE.md에 기록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17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다시 설명하는 내용을 한 번 적어 두면 결과의 일관성 확보</a:t>
            </a:r>
            <a:endParaRPr lang="en-US" sz="1300" dirty="0"/>
          </a:p>
          <a:p>
            <a:pPr marL="0" indent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프롬프트를 실행해서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7000"/>
              </a:lnSpc>
            </a:pP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Code에서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제대로 생성되었는지 확인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817352" cy="32918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45720" cy="32918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423160"/>
            <a:ext cx="10451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679192"/>
            <a:ext cx="10415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1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내용으로 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만들어줘</a:t>
            </a:r>
            <a:r>
              <a: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lnSpc>
                <a:spcPct val="131000"/>
              </a:lnSpc>
              <a:buNone/>
            </a:pPr>
            <a:endParaRPr lang="en-US" sz="10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출력 언어·문체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모든 출력은 한국어로 작성한다.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공문서 격식체를 사용한다: 종결어미는 '-함', '-하였음', '-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임'을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사용하고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구어체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('-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', '-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습니다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')와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이모지는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사용하지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예: "3분기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매출은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12억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원임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8%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증가하였음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요약 규칙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요약은 한 줄로 작성한다.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원문에 없는 내용은 추가하지 않는다.</a:t>
            </a:r>
            <a:endParaRPr lang="en-US" sz="105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핵심 수치·날짜·고유명사는 원문 표기 그대로 인용한다.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58064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절차는 버전이 여러 개일 수 있으므로, 필요한 버전만 골라 쓰기 위해 다음 단계에서 스킬로 분리 예정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스킬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 호출 및 인터뷰 시작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 만들어 주는 스킬인 skill-creator를 불러, 질문에 응답하는 방식으로 생성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명령은 붙여넣기로 인식되지 않으므로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창에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ko-KR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넣을 내용을 처음부터 자세히 적어도 되나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아이디어가 없을 경우 원하는 목표를 일단 말하면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구체화 시킬 수 있는 질문을 던짐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6309360" cy="96012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14600"/>
            <a:ext cx="45720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6060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862072"/>
            <a:ext cx="5907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/skill-creator 회의록을 검증하는 스킬을 만들어줘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6309360" cy="96012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03320"/>
            <a:ext cx="45720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794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· 자연어 요청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4050792"/>
            <a:ext cx="5907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skill-creator를 써서 회의록을 검증하는 스킬을 만들어줘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0" y="39183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 호출 화면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50292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명령 대신 자연어로 스킬 이름을 언급해도 동일하게 동작</a:t>
            </a:r>
            <a:endParaRPr lang="en-US" sz="10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DE0F4DD-9814-2A3A-4FD4-3E30D23D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58" y="3088695"/>
            <a:ext cx="4366362" cy="600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스킬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절차를 인터뷰 응답으로 전달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항목을 묻는 질문에 '기타' 선택 후 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 붙여넣기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형식 질문에는 txt로 응답, 그 외 항목은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자유롭게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2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ko-KR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소요됨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6675120" cy="39776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45720" cy="39776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37744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633472"/>
            <a:ext cx="62727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 절차 (검증이 핵심)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아래 정합성을 먼저 점검한다.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항목의 합 = 명시된 총계인가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비율(%)의 합 = 100%인가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적힌 날짜의 실제 요일 = 표기된 요일인가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'안건 N건 / 참석 N명 / 장비 N종' = 실제 나열 수인가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증감률·계산이 수치와 맞는가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어긋난 항목을 '확인 필요'에 근거와 함께 적는다.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마지막에 핵심 결정사항을 한 줄로 요약한다.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입력될 회의록은 txt 파일이야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skill의 이름은 'meeting-minutes-verifier' 라고 해줘</a:t>
            </a:r>
            <a:endParaRPr lang="en-US" sz="1000" dirty="0"/>
          </a:p>
          <a:p>
            <a:pPr marL="0" indent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'회의록 검증해줘' 라는 문장을 trigger로 skill이 동작하도록 해줘</a:t>
            </a:r>
            <a:endParaRPr lang="en-US" sz="1000" dirty="0"/>
          </a:p>
        </p:txBody>
      </p:sp>
      <p:pic>
        <p:nvPicPr>
          <p:cNvPr id="9" name="Image 0" descr="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920240"/>
            <a:ext cx="3840480" cy="30403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920240"/>
            <a:ext cx="3840480" cy="3040380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50337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응답 화면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개념 노트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CLAUDE.md와 스킬의 구분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271516" cy="182880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737360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05256" y="2011680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적용되는 규칙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" y="2414016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폴더에서 작업할 때마다 자동으로 함께 전달되는 상시 컨텍스트. 문체·신뢰성 원칙처럼 모든 작업에 공통으로 필요한 내용을 기록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572768"/>
            <a:ext cx="5271516" cy="182880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1737360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51092" y="2011680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</a:t>
            </a:r>
            <a:r>
              <a:rPr lang="en-US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불러오는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1092" y="2414016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때마다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사용하기 위해 별도로</a:t>
            </a:r>
            <a:r>
              <a:rPr lang="en-US" sz="11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 둔 도구. 호출 시점에만 읽히므로 상시 컨텍스트를 늘리지 않는 구조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요령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10817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분량이 길수록 개별 항목의 반영률이 낮아지므로 핵심 규칙 위주로 간결하게 유지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'깔끔하게' 같은 모호한 표현 대신, 지켰는지 판별할 수 있는 문장으로 작성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절차가 길어지면 CLAUDE.md가 아니라 스킬로 옮기는 것이 관리에 유리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스킬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스킬 저장 및 등록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799" y="1691640"/>
            <a:ext cx="7950201" cy="140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저장 버튼 선택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</a:t>
            </a:r>
            <a:r>
              <a:rPr lang="en-US" altLang="ko-KR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표시되는 관리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 화면으로 이동해 등록 상태 확인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의도대로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저장되었는지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endParaRPr lang="en-US" altLang="ko-KR" sz="11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*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버튼이 표시되지 않는 경우 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스킬로 저장하고 등록해줘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 추가 요청</a:t>
            </a:r>
          </a:p>
          <a:p>
            <a:pPr marL="0" indent="0">
              <a:lnSpc>
                <a:spcPct val="112000"/>
              </a:lnSpc>
              <a:buNone/>
            </a:pPr>
            <a:endParaRPr lang="en-US" sz="13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pic>
        <p:nvPicPr>
          <p:cNvPr id="5" name="Image 0" descr="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371" y="3040733"/>
            <a:ext cx="5486400" cy="31771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6335931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저장 및 등록 확인 화면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5806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7DA808-FD12-A376-7920-00B8A3B11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54" y="3036959"/>
            <a:ext cx="5591492" cy="272376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F8C210EB-0094-C3D7-5793-BC6A36F04D08}"/>
              </a:ext>
            </a:extLst>
          </p:cNvPr>
          <p:cNvSpPr/>
          <p:nvPr/>
        </p:nvSpPr>
        <p:spPr>
          <a:xfrm>
            <a:off x="320040" y="5953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기준 별도 요청 </a:t>
            </a:r>
            <a:r>
              <a:rPr lang="ko-KR" altLang="en-US" sz="950" dirty="0" err="1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안해도</a:t>
            </a:r>
            <a:r>
              <a:rPr lang="ko-KR" alt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altLang="ko-KR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lang="ko-KR" alt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테스트까지 해주고 있음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스킬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스킬 구성 확인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메뉴에서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SKILL.md와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함께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검증용 Python 스크립트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생성된 것을 확인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md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뿐만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아니라,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자료까지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담는 폴더 단위 도구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합계·요일처럼 계산이 필요한 검증은 스크립트로 처리하는 편이 결과가 안정적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SKILL.md에는 스킬 설명과 트리거 조건, 검증 절차가 함께 기록</a:t>
            </a:r>
            <a:endParaRPr lang="en-US" sz="1100" dirty="0"/>
          </a:p>
        </p:txBody>
      </p:sp>
      <p:pic>
        <p:nvPicPr>
          <p:cNvPr id="5" name="Image 0" descr="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4526280" cy="2773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691640"/>
            <a:ext cx="4526280" cy="2773328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45381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스킬 폴더 구성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5806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구성은 요청 내용에 따라 달라질 수 있으며, 스크립트가 생성되지 않아도 동작에는 문제 없음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스킬 생성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1건으로 스킬 동작 확인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뒤에 스킬 이름을 입력하면 해당 스킬을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명시적으로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spcBef>
                <a:spcPts val="500"/>
              </a:spcBef>
            </a:pP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/meeting-minutes-verifier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없이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 검증해줘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입력해도 트리거 문장이기 때문에 실행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6035040" cy="118872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606040"/>
            <a:ext cx="45720" cy="1188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6974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953512"/>
            <a:ext cx="5632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/meeting-minutes-verifier 회의록_1_예산배분.txt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검증해줘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확인이 필요한 오류 항목이 근거와 함께 목록으로 정리</a:t>
            </a:r>
            <a:endParaRPr lang="en-US" sz="1100" dirty="0"/>
          </a:p>
        </p:txBody>
      </p:sp>
      <p:pic>
        <p:nvPicPr>
          <p:cNvPr id="10" name="Image 0" descr="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526280" cy="2703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49440" y="1828800"/>
            <a:ext cx="4526280" cy="2703195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4605147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검증 실행 결과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스킬 확장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결과를 파일로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저장하도록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5667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방식 변경을 통해 스킬 수정 절차를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3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ko-KR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메인에서 사용자 지정 메뉴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스킬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-&gt; meeting-minutes-verifier -&gt;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우측 상단 메뉴 </a:t>
            </a:r>
            <a:endParaRPr lang="en-US" altLang="ko-KR" sz="13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   -&gt; Claude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로 편집</a:t>
            </a:r>
            <a:endParaRPr lang="en-US" sz="110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요청도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skill-creator를 통해 진행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6309360" cy="210312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68880"/>
            <a:ext cx="45720" cy="2103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56032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816352"/>
            <a:ext cx="5907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Help me edit the "meeting-minutes-verifier" skill using skill-creator.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너가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skill로 검증한 결과를 txt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저장하는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부분을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skill에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0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-  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파일은 작업 폴더로 지정한 곳에 저장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출력되는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파일명 형태는 '원본 회의록 파일명' 뒤에 '_검증결과'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</a:t>
            </a:r>
            <a:r>
              <a:rPr lang="ko-KR" altLang="en-US" sz="10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밍</a:t>
            </a:r>
            <a:endParaRPr lang="en-US" sz="1050" dirty="0"/>
          </a:p>
        </p:txBody>
      </p:sp>
      <p:pic>
        <p:nvPicPr>
          <p:cNvPr id="9" name="Image 0" descr="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289" y="1645920"/>
            <a:ext cx="3650062" cy="1965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93289" y="1645920"/>
            <a:ext cx="3650062" cy="1965960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3685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수정 요청 화면</a:t>
            </a:r>
            <a:endParaRPr lang="en-US" sz="950" dirty="0"/>
          </a:p>
        </p:txBody>
      </p:sp>
      <p:pic>
        <p:nvPicPr>
          <p:cNvPr id="12" name="Image 1" descr="media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977640"/>
            <a:ext cx="4023360" cy="8354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06640" y="3977640"/>
            <a:ext cx="4023360" cy="835424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06640" y="4886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내용 확인 화면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85800" y="51206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결과는 기존 스킬을 교체하는 방식으로 반영되므로, 반영 전 내용 확인 필요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스킬 확장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교체 절차와 주의점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17352" cy="1012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Cowork에서 진행하면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창이 바로 표시 — 수정 내용 확인 후 교체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창에서 수정한 경우 저장 창이 표시되지 않을 수 있으며, '바로 스킬로 저장해줘' 형태로 추가 지시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이름의 스킬로 교체하면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스킬은 복구 불가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반영 전 내용 확인 필수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596825" y="3566160"/>
            <a:ext cx="3298591" cy="2286000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25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요청 결과 확인</a:t>
            </a:r>
            <a:endParaRPr lang="en-US" sz="950" dirty="0"/>
          </a:p>
        </p:txBody>
      </p:sp>
      <p:pic>
        <p:nvPicPr>
          <p:cNvPr id="8" name="Image 1" descr="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593" y="3148922"/>
            <a:ext cx="3196413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25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이름 스킬 교체 확인 창</a:t>
            </a:r>
            <a:endParaRPr lang="en-US" sz="9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7177CFC-CC47-A971-4585-8F50C34B6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72" y="2816352"/>
            <a:ext cx="53994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스킬 확장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파일 생성 여부 확인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수정된 스킬이 검증 결과를 txt 파일로 저장하는지 확인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폴더에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'원본 파일명_검증결과' 형태의 파일 생성 확인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6309360" cy="118872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606040"/>
            <a:ext cx="45720" cy="1188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69748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953512"/>
            <a:ext cx="5907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/meeting-minutes-verifier 회의록_2_인프라운영</a:t>
            </a:r>
            <a:r>
              <a:rPr lang="en-US" sz="1150" dirty="0"/>
              <a:t>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검증해줘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화면 출력에만 그치는 경우, 저장 경로를 함께 지정해 다시 요청</a:t>
            </a:r>
            <a:endParaRPr lang="en-US" sz="1050" dirty="0"/>
          </a:p>
        </p:txBody>
      </p:sp>
      <p:pic>
        <p:nvPicPr>
          <p:cNvPr id="10" name="Image 0" descr="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77440"/>
            <a:ext cx="4297680" cy="109655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78040" y="2377440"/>
            <a:ext cx="4297680" cy="1096555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3547147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폴더에 생성된 검증 결과 파일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자동화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예정됨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기능으로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6126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작업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창에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프롬프트를 입력하면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작업에 필요한 세부 정보를 자동 구성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실습에서는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시각을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시각보다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10분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ko-KR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</a:t>
            </a:r>
            <a:r>
              <a:rPr lang="ko-KR" alt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스크린샷처럼 나오면 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r>
              <a:rPr lang="en-US" altLang="ko-KR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6126480" cy="16916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606040"/>
            <a:ext cx="45719" cy="16916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69748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953512"/>
            <a:ext cx="57241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조건으로 예약 작업을 등록해줘</a:t>
            </a:r>
            <a:endParaRPr lang="en-US" altLang="ko-KR" sz="11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분마다 실행</a:t>
            </a:r>
            <a:endParaRPr lang="en-US" altLang="ko-KR" sz="11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연동된 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폴더에 있는 모든 회의록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(.txt)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meeting-minutes-verifier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스킬로 검증하고 결과 파일을 같은 폴더에 저장해줘</a:t>
            </a:r>
            <a:endParaRPr lang="en-US" altLang="ko-KR" sz="11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디바이스 확인절차 없이</a:t>
            </a: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폴더 직접 연결 방식을 사용해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1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스캐쥴</a:t>
            </a: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등록되면 내가 폴더를 직접 연동할거야</a:t>
            </a:r>
            <a:r>
              <a:rPr lang="en-US" altLang="ko-KR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5113866"/>
            <a:ext cx="6126480" cy="192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메뉴의 '예정됨'에서도 예약 작업을 직접 생성 가능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명령은 붙여넣기로 인식되지 않으므로 직접 입력</a:t>
            </a:r>
            <a:endParaRPr lang="en-US" sz="1050" dirty="0"/>
          </a:p>
        </p:txBody>
      </p:sp>
      <p:pic>
        <p:nvPicPr>
          <p:cNvPr id="10" name="Image 0" descr="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28800"/>
            <a:ext cx="4434840" cy="30232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040880" y="1828800"/>
            <a:ext cx="4434840" cy="3023220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49251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/schedule 실행 화면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D5DDD-40C6-3A0C-F860-6954020A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C48962-27A6-9BB8-967D-64803819FBA2}"/>
              </a:ext>
            </a:extLst>
          </p:cNvPr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자동화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F7A06B-86D4-21BD-9083-0D4AE4F28D33}"/>
              </a:ext>
            </a:extLst>
          </p:cNvPr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위치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BB912D-0B63-7C43-B73B-9E7474B9F80B}"/>
              </a:ext>
            </a:extLst>
          </p:cNvPr>
          <p:cNvSpPr/>
          <p:nvPr/>
        </p:nvSpPr>
        <p:spPr>
          <a:xfrm>
            <a:off x="685800" y="1645919"/>
            <a:ext cx="5867400" cy="204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FontTx/>
              <a:buAutoNum type="arabicPlain"/>
            </a:pP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예정됨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방금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자동 검증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가장 하단에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‘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내 컴퓨터로 이동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‘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버튼 클릭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기본 값은 클라우드 실행이지만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,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예정된 작업이 내 컴퓨터에 직접 접근해서 파일을 생성해야 하기 때문에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‘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내 컴퓨터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＇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에서 작업하게 해야 함</a:t>
            </a:r>
            <a:endParaRPr lang="en-US" altLang="ko-KR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프로젝트 또는 폴더 선택에서 이번 강의자료의 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실습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’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폴더 선택</a:t>
            </a:r>
            <a:endParaRPr lang="en-US" altLang="ko-KR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CLAUDE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가 내 컴퓨터에 직접 파일을 생성해야 하는 경우에는 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CLAUDE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와 컴퓨터가 모두 켜져 있어야 정상적으로 작업 수행됨</a:t>
            </a:r>
            <a:endParaRPr lang="en-US" altLang="ko-KR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E7C142-275D-FED1-838D-B14BF0052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829" y="923697"/>
            <a:ext cx="5132507" cy="446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25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자동화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작업의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669280" cy="21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  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 하단에서 승인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저장 버튼 클릭</a:t>
            </a:r>
            <a:endParaRPr lang="en-US" sz="13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Bef>
                <a:spcPts val="500"/>
              </a:spcBef>
              <a:buAutoNum type="arabicPlain" startAt="2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승인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승인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실습용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 작업은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절차 없이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실행되도록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모드는 '수동 승인 · 자동 승인 · 모든 승인 건너뛰기' 세 가지</a:t>
            </a:r>
            <a:endParaRPr lang="en-US" sz="10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영향이 큰 업무용 작업은 수동 승인 유지 권장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20840" y="5786459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 편집 화면 — 하단에서 승인 모드 선택</a:t>
            </a:r>
            <a:endParaRPr lang="en-US" sz="9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5C2744-FC43-88F3-E417-457C1BE6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607" y="1637569"/>
            <a:ext cx="4429743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개념 노트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작업의 실행 환경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799" y="1645920"/>
            <a:ext cx="1065953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클라우드에서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경우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컴퓨터가 꺼져 있거나 앱이 닫혀 있어도 정해진 시각에 실행</a:t>
            </a:r>
            <a:endParaRPr lang="en-US" sz="14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오늘 실습처럼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폴더의 파일을 다루는 작업은 로컬에서 실행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Claude Desktop 실행 상태 유지 필요</a:t>
            </a:r>
            <a:endParaRPr lang="en-US" sz="14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시각은 설정보다 지연 가능 — 피크 시간대에는 20~30분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 수 있음</a:t>
            </a:r>
            <a:endParaRPr lang="en-US" sz="14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실행은 독립된 세션으로 진행되므로 이전 대화의 맥락은 이어지지 않는 구조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자동화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 전 안전 수칙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절차를 생략하는 만큼, 작업 범위를 먼저 좁혀 두는 것이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13055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범위 최소화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" y="253288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 작업의 폴더는 해당 업무 폴더로 한정. 문서 전체나 상위 폴더 지정은 지양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96596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213055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예약작업은 </a:t>
            </a:r>
            <a:r>
              <a:rPr lang="en-US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사본으로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후 검토 후 원본 문서로 합치기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1092" y="253288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문서는 별도 보관하고, 자동 작업은 사본 폴더에서 진행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82219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파괴적 작업은 수동 승인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" y="422452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삭제·이동·덮어쓰기가 포함된 작업은 승인 모드를 수동으로 유지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자동화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 실행 결과 확인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작업이 실행되면 좌측 메뉴에 해당 세션 추가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3, 4에 대해서도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파일이 생성된 것을 확인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파일은 작업 폴더에 저장되므로 폴더에서 직접 확인 가능</a:t>
            </a:r>
            <a:endParaRPr lang="en-US" sz="1150" dirty="0"/>
          </a:p>
        </p:txBody>
      </p:sp>
      <p:pic>
        <p:nvPicPr>
          <p:cNvPr id="5" name="Image 0" descr="media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03120"/>
            <a:ext cx="4572000" cy="1407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2103120"/>
            <a:ext cx="4572000" cy="1407184"/>
          </a:xfrm>
          <a:prstGeom prst="rect">
            <a:avLst/>
          </a:prstGeom>
          <a:ln w="12700">
            <a:solidFill>
              <a:srgbClr val="3330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3583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 실행 세션과 결과 파일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51206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생성되지 않은 경우 예약 작업의 폴더 지정과 승인 모드를 우선 확인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실습용 예약 작업 삭제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삭제하지 않으면 설정한 주기마다 계속 실행되어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 소모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'예정됨' 메뉴에서 해당 작업 선택 후 삭제 실행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정지만으로도 실행은 멈추나, 실습용 작업은 삭제 권장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계속 사용할 작업은 프롬프트를 다듬어 그대로 유지 가능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223760" y="419016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 관리 메뉴</a:t>
            </a:r>
            <a:endParaRPr lang="en-US" sz="9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2BAE4A-BEBA-34DC-2926-0C72A81E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92" y="1596768"/>
            <a:ext cx="4477375" cy="22767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패턴으로 만들 수 있는 업무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절차를 글로 적을 수 있는 반복 업무라면 오늘과 동일한 방식으로 도구화 가능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13055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주간보고 취합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" y="253288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파일의 실적 수치를 모으고, 항목 합계와 전주 대비 증감 계산을 검산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96596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213055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서류 점검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1092" y="253288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출장·행사 정산 내역의 금액 합계와 날짜, 증빙 건수 일치 여부를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82219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표 검산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" y="422452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 실린 표의 합계·비율·증감률이 본문 서술과 일치하는지 대조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3657600"/>
            <a:ext cx="5271516" cy="1463040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1092" y="3822192"/>
            <a:ext cx="4832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 문체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1092" y="4224528"/>
            <a:ext cx="48326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기안문 초안의 종결어미와 표기 규칙을 기관 양식 기준으로 통일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5321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Mac용 Claude의 Cowork에서는 화면 녹화로 작업 과정을 보여 주면 스킬 초안을 만들어 주는 '스킬 녹화' 기능 제공(2026년 7월 추가)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개념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간단히 확인만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실습에서 다룬 요소가 AI 에이전트의 구성 요소에 그대로 대응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71516" cy="15727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039112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모델 — 판단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05256" y="2313432"/>
            <a:ext cx="48326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판단하고 다음 행동을 결정하는 주체. 오늘은 Cowork의 Claude가 담당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874520"/>
            <a:ext cx="5271516" cy="15727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2039112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도구 — 실행 수단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51092" y="2313432"/>
            <a:ext cx="48326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작업을 수행하는 수단. 오늘 만든 meeting-minutes-verifier 스킬과 검증 스크립트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5271516" cy="15727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840480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컨텍스트 — 기억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5256" y="4114800"/>
            <a:ext cx="48326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맥락을 유지하는 기억. 폴더에서 작업할 때마다 자동으로 전달된 CLAUDE.md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3675888"/>
            <a:ext cx="5271516" cy="1572768"/>
          </a:xfrm>
          <a:prstGeom prst="rect">
            <a:avLst/>
          </a:prstGeom>
          <a:solidFill>
            <a:srgbClr val="1A1810"/>
          </a:solidFill>
          <a:ln w="9525">
            <a:solidFill>
              <a:srgbClr val="333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1092" y="3840480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실행 구조 — 진행 방식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51092" y="4114800"/>
            <a:ext cx="48326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작업이 시작되고 반복되는 조건. 예약 작업의 실행 주기와 승인 모드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5778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완전히 합의된 정의가 없는 신규 개념으로, 자료마다 분류와 용어에 차이 존재 (위는 Anthropic 문서 기준)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금일 작업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회의록에는 오류가 미리 심어져 있으므로, 결과 파일을 아래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정답표와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대조해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9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정답표의 오류를 결과 파일에서 찾았는지 확인</a:t>
            </a:r>
            <a:endParaRPr lang="en-US" sz="9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9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정답표에는 있으나 결과에 없는 오류 확인</a:t>
            </a:r>
            <a:endParaRPr lang="en-US" sz="9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95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오검출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정상 항목을 오류로 표시하지 않았는지 확인 (회의록 2의 날짜가 확인용 정상 항목)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80360"/>
          <a:ext cx="10817352" cy="2514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회의록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심어 둔 오류 (정답표)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예산배분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불일치(4.8+3.0+1.7=9.5 ≠ 10.0) · 비율 합 95% · 날짜–요일 불일치(3월 13일은 금요일)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인프라운영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안건 3건 표기, 실제 2건 · 참석 7명 표기, 명단 8명 · 증감률 오기(1200→900은 25%, 40%로 표기)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장비도입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날짜–요일 불일치(5월 21일은 목요일) · 합계 불일치(1.2+0.8+0.5=2.5 ≠ 2.3) · 개수 불일치(4종 표기, 실제 3종)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주간점검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불일치(120+95+70=285 ≠ 300) · 비율 합 95%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5778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2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아는 자료로 먼저 평가한 뒤 실제 업무에 투입하는 것이 도구 검증의 기본 절차. 실제 업무에서는 예상하지 못한 예외가 있을 수 있으므로 결과를 주기적으로 확인 필요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 / 자주 막히는 지점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17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명령(/skill-creator, /schedule 등)은 붙여넣기로 인식되지 않으므로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구성과 메뉴 명칭은 업데이트가 잦으므로 강의 자료와 다를 수 있음 — 실제 화면 문구 기준으로 진행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요청에도 결과가 매번 조금씩 달라지는 특성이 있으므로, 결과가 예시와 다른 것은 정상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이름으로 스킬을 교체하면 복구 불가 —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전 내용 확인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작업 결과가 없으면 작업 폴더 지정 → 승인 모드 → Claude Desktop 실행 상태 순으로 점검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실습으로 만든 예약 작업은 수업 종료 후 삭제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2977</Words>
  <Application>Microsoft Office PowerPoint</Application>
  <PresentationFormat>사용자 지정</PresentationFormat>
  <Paragraphs>384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1</cp:revision>
  <dcterms:created xsi:type="dcterms:W3CDTF">2026-08-13T15:04:06Z</dcterms:created>
  <dcterms:modified xsi:type="dcterms:W3CDTF">2026-08-24T02:46:27Z</dcterms:modified>
</cp:coreProperties>
</file>