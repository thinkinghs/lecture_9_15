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860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684368" y="2029968"/>
            <a:ext cx="822960" cy="457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103628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en-US" sz="4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r>
              <a:rPr lang="en-US" sz="4500" dirty="0"/>
              <a:t> </a:t>
            </a:r>
            <a:r>
              <a:rPr lang="ko-KR" altLang="en-US" sz="4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개념과 </a:t>
            </a:r>
            <a:endParaRPr lang="en-US" altLang="ko-KR" sz="4500" b="1" dirty="0">
              <a:solidFill>
                <a:srgbClr val="FFD7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altLang="ko-KR" sz="4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COWORK </a:t>
            </a:r>
            <a:r>
              <a:rPr lang="ko-KR" altLang="en-US" sz="4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3215487" y="489204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Cowork (Claude Desktop 앱)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488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5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684368" y="2761488"/>
            <a:ext cx="822960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0175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 기본 개념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1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도입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947672" y="617220"/>
            <a:ext cx="9421063" cy="10058"/>
          </a:xfrm>
          <a:prstGeom prst="rect">
            <a:avLst/>
          </a:prstGeom>
          <a:solidFill>
            <a:srgbClr val="4A463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en-US" altLang="ko-KR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41248" y="1970532"/>
            <a:ext cx="82296" cy="822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1737360"/>
            <a:ext cx="102531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사용하는 상용</a:t>
            </a:r>
            <a:r>
              <a:rPr lang="en-US" sz="13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AI는 전부 에이전트 방식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동작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41248" y="2702052"/>
            <a:ext cx="82296" cy="822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468880"/>
            <a:ext cx="102531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단순히 채팅 답변이 아니라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정리를 AI가 끝까지 완료하는 것이 이미 기본값인 상황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41248" y="3433572"/>
            <a:ext cx="82296" cy="822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3200400"/>
            <a:ext cx="102531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너무 자연스러워진 탓에, 기존 LLM과 무엇이 달라진 것인지 설명하기는 의외로 어려움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41248" y="4165092"/>
            <a:ext cx="82296" cy="822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3931920"/>
            <a:ext cx="102531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에는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‘AI </a:t>
            </a:r>
            <a:r>
              <a:rPr lang="en-US" sz="135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Agent’의</a:t>
            </a:r>
            <a:r>
              <a:rPr lang="en-US" sz="13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구체적인 정의를 살펴보고 간단히 실습 예정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1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변화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947672" y="617220"/>
            <a:ext cx="9421063" cy="10058"/>
          </a:xfrm>
          <a:prstGeom prst="rect">
            <a:avLst/>
          </a:prstGeom>
          <a:solidFill>
            <a:srgbClr val="4A463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불과 2~3년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사이의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AI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안내에서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실행으로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“일본행 항공권 가격 확인” — 같은 질문에 대한 서로 다른 동작 방식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044288" cy="29260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313432"/>
            <a:ext cx="464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2~3년 전 · 기본 LLM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24128" y="2587752"/>
            <a:ext cx="464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“스카이스캐너에서 확인 가능”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24128" y="2971800"/>
            <a:ext cx="46419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가격 확인은 사용자의 몫으로 남기고 방법 안내에서 종료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세계에 대한 어떤 행동도 없이 답변 생성만 수행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4448" y="2148840"/>
            <a:ext cx="5044288" cy="29260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5616" y="2313432"/>
            <a:ext cx="464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· AI </a:t>
            </a:r>
            <a:r>
              <a:rPr lang="en-US" sz="950" b="1" kern="0" spc="2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r>
              <a:rPr lang="en-US" sz="9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9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형태의 </a:t>
            </a:r>
            <a:r>
              <a:rPr lang="en-US" altLang="ko-KR" sz="9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25616" y="2587752"/>
            <a:ext cx="464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검색해 실제 가격까지 확인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25616" y="2971800"/>
            <a:ext cx="46419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‘검색’이라는 행동의 필요성을 스스로 판단한 뒤 실행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확인한 결과를 정리해 사용자에게는 최종 답만 전달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53492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— </a:t>
            </a:r>
            <a:r>
              <a:rPr lang="en-US" sz="13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‘방법을 아는 것’에서 ‘스스로 행동하는 것’으로의 전환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1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구분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947672" y="617220"/>
            <a:ext cx="9421063" cy="10058"/>
          </a:xfrm>
          <a:prstGeom prst="rect">
            <a:avLst/>
          </a:prstGeom>
          <a:solidFill>
            <a:srgbClr val="4A463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LLM과 AI 에이전트의 구분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5044288" cy="3063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810512"/>
            <a:ext cx="464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LLM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" y="2084832"/>
            <a:ext cx="464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질문에 대한 답변 생성까지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24128" y="2468880"/>
            <a:ext cx="46419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묻는 말에 ‘답’만 생성</a:t>
            </a:r>
            <a:endParaRPr lang="en-US" sz="1250" dirty="0"/>
          </a:p>
          <a:p>
            <a:pPr marL="0" indent="0">
              <a:lnSpc>
                <a:spcPct val="12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실행하는 행동은 없음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지식과 추론 능력만 보유한 상태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24448" y="1645920"/>
            <a:ext cx="5044288" cy="3063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5616" y="1810512"/>
            <a:ext cx="464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25616" y="2084832"/>
            <a:ext cx="464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+ 도구 + 실행 루프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25616" y="2468880"/>
            <a:ext cx="46419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LLM에 도구를 결합해 ‘행동’까지 수행</a:t>
            </a:r>
            <a:endParaRPr lang="en-US" sz="1250" dirty="0"/>
          </a:p>
          <a:p>
            <a:pPr marL="0" indent="0">
              <a:lnSpc>
                <a:spcPct val="12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도구를 스스로 판단해 호출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확인하며 목표 </a:t>
            </a:r>
            <a:r>
              <a:rPr lang="en-US" sz="12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완료까지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</a:t>
            </a:r>
            <a:endParaRPr lang="en-US" sz="125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28000"/>
              </a:lnSpc>
              <a:buNone/>
            </a:pPr>
            <a:endParaRPr lang="en-US" sz="125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</a:endParaRPr>
          </a:p>
          <a:p>
            <a:pPr>
              <a:lnSpc>
                <a:spcPct val="128000"/>
              </a:lnSpc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-&gt; </a:t>
            </a: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현재 상용 </a:t>
            </a:r>
            <a:r>
              <a:rPr lang="en-US" altLang="ko-KR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LLM </a:t>
            </a: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모델들은 </a:t>
            </a:r>
            <a:r>
              <a:rPr lang="en-US" altLang="ko-KR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</a:t>
            </a:r>
            <a:r>
              <a:rPr lang="ko-KR" alt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</a:t>
            </a:r>
            <a:r>
              <a:rPr lang="en-US" altLang="ko-KR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델 </a:t>
            </a:r>
            <a:r>
              <a:rPr lang="en-US" altLang="ko-KR" sz="125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단독이</a:t>
            </a:r>
            <a:r>
              <a:rPr lang="en-US" altLang="ko-KR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아니라</a:t>
            </a:r>
            <a:r>
              <a:rPr lang="en-US" altLang="ko-KR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</a:t>
            </a:r>
            <a:r>
              <a:rPr lang="en-US" altLang="ko-KR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결합된</a:t>
            </a:r>
            <a:r>
              <a:rPr lang="en-US" altLang="ko-KR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r>
              <a:rPr lang="ko-KR" alt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제공하고 있는 것</a:t>
            </a:r>
            <a:endParaRPr lang="en-US" sz="1250" dirty="0"/>
          </a:p>
        </p:txBody>
      </p:sp>
      <p:sp>
        <p:nvSpPr>
          <p:cNvPr id="900" name="TakeawayDot"/>
          <p:cNvSpPr/>
          <p:nvPr/>
        </p:nvSpPr>
        <p:spPr>
          <a:xfrm>
            <a:off x="841248" y="5225796"/>
            <a:ext cx="82296" cy="822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901" name="TakeawayText"/>
          <p:cNvSpPr/>
          <p:nvPr/>
        </p:nvSpPr>
        <p:spPr>
          <a:xfrm>
            <a:off x="1115568" y="5074920"/>
            <a:ext cx="102531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도구와 실행 루프가 결합되는 순간 </a:t>
            </a:r>
            <a:r>
              <a:rPr lang="en-US" sz="12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에이전트로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정의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523744" y="617220"/>
            <a:ext cx="8844991" cy="10058"/>
          </a:xfrm>
          <a:prstGeom prst="rect">
            <a:avLst/>
          </a:prstGeom>
          <a:solidFill>
            <a:srgbClr val="4A463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41248"/>
            <a:ext cx="1070017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목표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완료까지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‘AI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직접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행동 → 확인’의 반복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10545775" cy="1234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00200"/>
            <a:ext cx="50292" cy="123444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728216"/>
            <a:ext cx="99971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ANTHROPIC의 정의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97280" y="1984248"/>
            <a:ext cx="999713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“AI 에이전트는 LLM이 자신의 프로세스와 도구 사용을 동적으로 스스로 결정하면서, 작업 완수 방식에 대한 통제권을 유지하는 시스템”  —  두 가지 키워드: ‘동적으로 스스로 결정’ + ‘통제권 유지’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2325548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246120"/>
            <a:ext cx="2325548" cy="32004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282696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판단</a:t>
            </a:r>
            <a:endParaRPr lang="en-US" sz="13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할지 스스로 결정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48508" y="3246120"/>
            <a:ext cx="310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459404" y="3246120"/>
            <a:ext cx="2325548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59404" y="3246120"/>
            <a:ext cx="2325548" cy="32004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5" name="Text 13"/>
          <p:cNvSpPr/>
          <p:nvPr/>
        </p:nvSpPr>
        <p:spPr>
          <a:xfrm>
            <a:off x="3514268" y="3282696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행동</a:t>
            </a:r>
            <a:endParaRPr lang="en-US" sz="13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호출·실행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84952" y="3246120"/>
            <a:ext cx="310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95848" y="3246120"/>
            <a:ext cx="2325548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5848" y="3246120"/>
            <a:ext cx="2325548" cy="32004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9" name="Text 17"/>
          <p:cNvSpPr/>
          <p:nvPr/>
        </p:nvSpPr>
        <p:spPr>
          <a:xfrm>
            <a:off x="6150712" y="3282696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결과 확인</a:t>
            </a:r>
            <a:endParaRPr lang="en-US" sz="13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관찰·평가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21395" y="3246120"/>
            <a:ext cx="310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732291" y="3246120"/>
            <a:ext cx="2325548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32291" y="3246120"/>
            <a:ext cx="2325548" cy="32004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23" name="Text 21"/>
          <p:cNvSpPr/>
          <p:nvPr/>
        </p:nvSpPr>
        <p:spPr>
          <a:xfrm>
            <a:off x="8787155" y="3282696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다시 판단</a:t>
            </a:r>
            <a:endParaRPr lang="en-US" sz="13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 결정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057839" y="3246120"/>
            <a:ext cx="310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↺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4370832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목표가 끝날 때까지 반복되는 루프(loop)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1248" y="5088636"/>
            <a:ext cx="82296" cy="822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27" name="Text 25"/>
          <p:cNvSpPr/>
          <p:nvPr/>
        </p:nvSpPr>
        <p:spPr>
          <a:xfrm>
            <a:off x="1115568" y="4937760"/>
            <a:ext cx="102531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순서(A → B → C)를 사람이 미리 고정하면 </a:t>
            </a:r>
            <a:r>
              <a:rPr 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워크플로우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매 단계를 AI가 스스로 결정하면 </a:t>
            </a:r>
            <a:r>
              <a:rPr 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41248" y="5618988"/>
            <a:ext cx="82296" cy="822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29" name="Text 27"/>
          <p:cNvSpPr/>
          <p:nvPr/>
        </p:nvSpPr>
        <p:spPr>
          <a:xfrm>
            <a:off x="1115568" y="5468112"/>
            <a:ext cx="102531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업계 정의는 </a:t>
            </a:r>
            <a:r>
              <a:rPr 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‘도구를 루프 안에서 자율적으로 사용하는 LLM’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줄로 수렴 — 앞의 ‘LLM + 도구 + 실행 루프’와 동일한 구조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</a:t>
            </a:r>
            <a:r>
              <a:rPr lang="en-US" sz="1050" b="1" kern="0" spc="2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523744" y="617220"/>
            <a:ext cx="8844991" cy="10058"/>
          </a:xfrm>
          <a:prstGeom prst="rect">
            <a:avLst/>
          </a:prstGeom>
          <a:solidFill>
            <a:srgbClr val="4A463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목표를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받아 결과물까지 완결</a:t>
            </a:r>
            <a:endParaRPr lang="en-US" sz="2500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4E7E1F85-3C0B-5DAD-A920-E586EB216686}"/>
              </a:ext>
            </a:extLst>
          </p:cNvPr>
          <p:cNvSpPr/>
          <p:nvPr/>
        </p:nvSpPr>
        <p:spPr>
          <a:xfrm>
            <a:off x="822960" y="2651760"/>
            <a:ext cx="5044288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5C1E0A56-D1AA-6D09-169C-77B39EAC8D01}"/>
              </a:ext>
            </a:extLst>
          </p:cNvPr>
          <p:cNvSpPr/>
          <p:nvPr/>
        </p:nvSpPr>
        <p:spPr>
          <a:xfrm>
            <a:off x="1024128" y="2816352"/>
            <a:ext cx="464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9A83156A-6712-36C1-EDEB-D40F89A00BA4}"/>
              </a:ext>
            </a:extLst>
          </p:cNvPr>
          <p:cNvSpPr/>
          <p:nvPr/>
        </p:nvSpPr>
        <p:spPr>
          <a:xfrm>
            <a:off x="1024128" y="3090672"/>
            <a:ext cx="464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단발 명령에 응답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1CA33D54-8DEE-97D1-9271-2D7C0E1495BC}"/>
              </a:ext>
            </a:extLst>
          </p:cNvPr>
          <p:cNvSpPr/>
          <p:nvPr/>
        </p:nvSpPr>
        <p:spPr>
          <a:xfrm>
            <a:off x="1024128" y="3474720"/>
            <a:ext cx="464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“이거 검색해줘” 같은 1차원적 명령을 받아 그때그때 응답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단계의 판단과 실행은 사용자의 몫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46123624-06ED-9764-8418-3C659C48F7C2}"/>
              </a:ext>
            </a:extLst>
          </p:cNvPr>
          <p:cNvSpPr/>
          <p:nvPr/>
        </p:nvSpPr>
        <p:spPr>
          <a:xfrm>
            <a:off x="6324448" y="2651760"/>
            <a:ext cx="5044288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A0D04A0A-B5CD-BB7C-BE31-CCB2A5FE8180}"/>
              </a:ext>
            </a:extLst>
          </p:cNvPr>
          <p:cNvSpPr/>
          <p:nvPr/>
        </p:nvSpPr>
        <p:spPr>
          <a:xfrm>
            <a:off x="6525616" y="2816352"/>
            <a:ext cx="464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02818CEF-C47F-F1FB-4F71-EDAA2623FBEF}"/>
              </a:ext>
            </a:extLst>
          </p:cNvPr>
          <p:cNvSpPr/>
          <p:nvPr/>
        </p:nvSpPr>
        <p:spPr>
          <a:xfrm>
            <a:off x="6525616" y="3090672"/>
            <a:ext cx="464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단계를 스스로 판단·실행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7AC39CCE-1C57-16D0-DDD8-97AB79C5172C}"/>
              </a:ext>
            </a:extLst>
          </p:cNvPr>
          <p:cNvSpPr/>
          <p:nvPr/>
        </p:nvSpPr>
        <p:spPr>
          <a:xfrm>
            <a:off x="6525616" y="3474720"/>
            <a:ext cx="464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고객 환불 처리”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</a:t>
            </a: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주어진다면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확인 → 주문 조회 → 환불 정책 확인 → 실행 → 안내 메일 발송까지 자체 완결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0" name="TakeawayDot"/>
          <p:cNvSpPr/>
          <p:nvPr/>
        </p:nvSpPr>
        <p:spPr>
          <a:xfrm>
            <a:off x="841248" y="5545836"/>
            <a:ext cx="82296" cy="822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901" name="TakeawayText"/>
          <p:cNvSpPr/>
          <p:nvPr/>
        </p:nvSpPr>
        <p:spPr>
          <a:xfrm>
            <a:off x="1115568" y="5394960"/>
            <a:ext cx="102531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 기준은 </a:t>
            </a:r>
            <a:r>
              <a:rPr 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‘몇 단계를 스스로 이어가 완결하는가’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앞서 본 ‘판단 → 행동 → 확인’ 루프가 실제 업무에서 돌아가는 모습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1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한계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947672" y="617220"/>
            <a:ext cx="9421063" cy="10058"/>
          </a:xfrm>
          <a:prstGeom prst="rect">
            <a:avLst/>
          </a:prstGeom>
          <a:solidFill>
            <a:srgbClr val="4A463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AI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용어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남용과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536192"/>
            <a:ext cx="10545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알아서 처리해 줄 것 같은 기대와 달리, 실제 적용 범위는 </a:t>
            </a:r>
            <a:r>
              <a:rPr lang="en-US" sz="135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</a:t>
            </a:r>
            <a:r>
              <a:rPr lang="en-US" sz="13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제한적</a:t>
            </a:r>
            <a:r>
              <a:rPr lang="en-US" sz="13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en-US" altLang="ko-KR" sz="14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r>
              <a:rPr lang="en-US" altLang="ko-KR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실습에서</a:t>
            </a:r>
            <a:r>
              <a:rPr lang="en-US" altLang="ko-KR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</a:t>
            </a:r>
            <a:r>
              <a:rPr lang="en-US" altLang="ko-KR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체감</a:t>
            </a: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하기</a:t>
            </a:r>
            <a:endParaRPr lang="en-US" sz="1350" b="1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3271418" cy="3246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221992"/>
            <a:ext cx="28690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24128" y="2496312"/>
            <a:ext cx="28690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이름뿐인 ‘AI Agent’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24128" y="2880360"/>
            <a:ext cx="286908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8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챗봇에 도구 몇 개를 연결하고 명칭만 교체한 ‘에이전트 워싱(agent washing)’ 사례 다수</a:t>
            </a:r>
            <a:endParaRPr lang="en-US" sz="1100" dirty="0"/>
          </a:p>
          <a:p>
            <a:pPr marL="171450" indent="-171450">
              <a:lnSpc>
                <a:spcPct val="128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툴에 ‘agentic’ 딱지만 부착 — 실제 자율 판단·실행 </a:t>
            </a:r>
            <a:r>
              <a:rPr lang="en-US" sz="11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능력은</a:t>
            </a: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60138" y="2057400"/>
            <a:ext cx="3271418" cy="3246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1306" y="2221992"/>
            <a:ext cx="28690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61306" y="2496312"/>
            <a:ext cx="28690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좁은 영역에서만 안정적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61306" y="2880360"/>
            <a:ext cx="286908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8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</a:t>
            </a: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1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고객지원</a:t>
            </a: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1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</a:t>
            </a: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 </a:t>
            </a:r>
            <a:r>
              <a:rPr lang="en-US" sz="11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프로세스가</a:t>
            </a: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정형화</a:t>
            </a: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되고</a:t>
            </a:r>
            <a:r>
              <a:rPr lang="en-US" altLang="ko-KR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좁은</a:t>
            </a: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</a:t>
            </a: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기존 케이스가 많은 경우에만 </a:t>
            </a:r>
            <a:r>
              <a:rPr lang="en-US" sz="11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</a:t>
            </a: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동작</a:t>
            </a:r>
            <a:endParaRPr lang="en-US" sz="1100" dirty="0"/>
          </a:p>
          <a:p>
            <a:pPr marL="171450" indent="-171450">
              <a:lnSpc>
                <a:spcPct val="128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범위 확대 시 </a:t>
            </a:r>
            <a:r>
              <a:rPr lang="en-US" sz="11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</a:t>
            </a: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급증</a:t>
            </a: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</a:t>
            </a:r>
            <a:r>
              <a:rPr lang="en-US" altLang="ko-KR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</a:t>
            </a: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어려움</a:t>
            </a:r>
            <a:endParaRPr lang="en-US" sz="1100" dirty="0"/>
          </a:p>
          <a:p>
            <a:pPr marL="171450" indent="-171450">
              <a:lnSpc>
                <a:spcPct val="128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예시</a:t>
            </a:r>
            <a:r>
              <a:rPr lang="en-US" altLang="ko-KR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) </a:t>
            </a: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고객 서비스 전체 위임</a:t>
            </a:r>
            <a:r>
              <a:rPr lang="en-US" altLang="ko-KR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: </a:t>
            </a: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기본 환불</a:t>
            </a:r>
            <a:r>
              <a:rPr lang="en-US" altLang="ko-KR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응대는 쉽지만 환불 분쟁</a:t>
            </a:r>
            <a:r>
              <a:rPr lang="en-US" altLang="ko-KR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규정 예외 승인까지 범위를 넓히면 케이스 조합이 폭발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7317" y="2057400"/>
            <a:ext cx="3271418" cy="3246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8485" y="2221992"/>
            <a:ext cx="28690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98485" y="2496312"/>
            <a:ext cx="29875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발생시</a:t>
            </a:r>
            <a:r>
              <a:rPr lang="en-US" sz="14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</a:t>
            </a:r>
            <a:r>
              <a:rPr lang="ko-KR" altLang="en-US" sz="14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벗어날 가능성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98485" y="2880360"/>
            <a:ext cx="286908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8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“에이전트 폭주 시 감당 가능한 </a:t>
            </a:r>
            <a:r>
              <a:rPr lang="en-US" sz="11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피해인가</a:t>
            </a: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</a:t>
            </a: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라는 질문에 답할 수 있는 영역에서만 </a:t>
            </a:r>
            <a:r>
              <a:rPr lang="en-US" altLang="ko-KR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ko-KR" altLang="en-US" sz="11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사용해야함</a:t>
            </a:r>
            <a:endParaRPr lang="en-US" sz="1100" dirty="0"/>
          </a:p>
          <a:p>
            <a:pPr marL="171450" indent="-171450">
              <a:lnSpc>
                <a:spcPct val="128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 판단 오류·잘못된 투자 실행의 연쇄 등 회복 불가 영역에는 부적합</a:t>
            </a:r>
            <a:endParaRPr lang="en-US" sz="1100" dirty="0"/>
          </a:p>
          <a:p>
            <a:pPr marL="171450" indent="-171450">
              <a:lnSpc>
                <a:spcPct val="128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상태로 </a:t>
            </a:r>
            <a:r>
              <a:rPr lang="en-US" sz="11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API를</a:t>
            </a: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계속해서</a:t>
            </a: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호출하는 폭주 사례 존재</a:t>
            </a:r>
            <a:endParaRPr lang="en-US" sz="11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A371E5DB-3EB3-45FD-DCE1-F5D5C6BB5B4F}"/>
              </a:ext>
            </a:extLst>
          </p:cNvPr>
          <p:cNvSpPr/>
          <p:nvPr/>
        </p:nvSpPr>
        <p:spPr>
          <a:xfrm>
            <a:off x="822960" y="5440680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Gartner 전망 (25년 6월) —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에이전틱 AI 프로젝트 40% 이상이 27년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말까지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급증 · 불명확한 비즈니스 가치 · 리스크 통제 미비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원인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432B0E19-B30D-73C2-A517-36633C1C74D5}"/>
              </a:ext>
            </a:extLst>
          </p:cNvPr>
          <p:cNvSpPr/>
          <p:nvPr/>
        </p:nvSpPr>
        <p:spPr>
          <a:xfrm>
            <a:off x="822960" y="587044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</a:t>
            </a:r>
            <a:r>
              <a:rPr kumimoji="0" 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적용 범위를 먼저 이해한 뒤 </a:t>
            </a:r>
            <a:r>
              <a:rPr kumimoji="0" 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</a:t>
            </a: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488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5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684368" y="2761488"/>
            <a:ext cx="822960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0175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간단 실습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9776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보고서를 워드(.docx) 요약본으로 변환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실습 개요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350008" y="617220"/>
            <a:ext cx="9018727" cy="10058"/>
          </a:xfrm>
          <a:prstGeom prst="rect">
            <a:avLst/>
          </a:prstGeom>
          <a:solidFill>
            <a:srgbClr val="4A463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lang="en-US" altLang="ko-KR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방식으로 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보고서를 ‘.docx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워드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 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파일로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2403272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2403272" cy="32004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956816"/>
            <a:ext cx="22935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1편</a:t>
            </a:r>
            <a:endParaRPr lang="en-US" sz="13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폴더에 제공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26232" y="1920240"/>
            <a:ext cx="310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537128" y="1920240"/>
            <a:ext cx="2403272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37128" y="1920240"/>
            <a:ext cx="2403272" cy="32004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1" name="Text 9"/>
          <p:cNvSpPr/>
          <p:nvPr/>
        </p:nvSpPr>
        <p:spPr>
          <a:xfrm>
            <a:off x="3591992" y="1956816"/>
            <a:ext cx="22935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</a:t>
            </a: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PDF </a:t>
            </a:r>
            <a:r>
              <a:rPr lang="ko-KR" alt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</a:t>
            </a:r>
            <a:endParaRPr lang="en-US" sz="13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본문·표·그림 파악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0400" y="1920240"/>
            <a:ext cx="310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51296" y="1920240"/>
            <a:ext cx="2403272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51296" y="1920240"/>
            <a:ext cx="2403272" cy="32004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5" name="Text 13"/>
          <p:cNvSpPr/>
          <p:nvPr/>
        </p:nvSpPr>
        <p:spPr>
          <a:xfrm>
            <a:off x="6306160" y="1956816"/>
            <a:ext cx="22935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+ 목록 생성</a:t>
            </a:r>
            <a:endParaRPr lang="en-US" sz="13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요약, 표·그림 목록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54567" y="1920240"/>
            <a:ext cx="310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965463" y="1920240"/>
            <a:ext cx="2403272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5463" y="1920240"/>
            <a:ext cx="2403272" cy="32004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9" name="Text 17"/>
          <p:cNvSpPr/>
          <p:nvPr/>
        </p:nvSpPr>
        <p:spPr>
          <a:xfrm>
            <a:off x="9020327" y="1956816"/>
            <a:ext cx="22935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워드(.docx) 산출</a:t>
            </a:r>
            <a:endParaRPr lang="en-US" sz="13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 직접 저장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090672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입력부터 파일 생성까지 에이전트가 자체 진행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41248" y="3982212"/>
            <a:ext cx="82296" cy="822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22" name="Text 20"/>
          <p:cNvSpPr/>
          <p:nvPr/>
        </p:nvSpPr>
        <p:spPr>
          <a:xfrm>
            <a:off x="1115568" y="3794760"/>
            <a:ext cx="10253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 — 1쪽 분량의 핵심 요약과 표·그림 목록이 담긴 워드 문서 1개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1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실습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947672" y="617220"/>
            <a:ext cx="9421063" cy="10058"/>
          </a:xfrm>
          <a:prstGeom prst="rect">
            <a:avLst/>
          </a:prstGeom>
          <a:solidFill>
            <a:srgbClr val="4A463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Cowork 실행과 실습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10545775" cy="102412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64592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00200" y="1645920"/>
            <a:ext cx="95399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 앱 </a:t>
            </a:r>
            <a:r>
              <a:rPr lang="ko-KR" altLang="en-US" sz="12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채팅창</a:t>
            </a: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하단에서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‘Cowork’ 탭 선택   </a:t>
            </a:r>
            <a:r>
              <a:rPr 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Cowork 자체가 에이전트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87552" y="2157984"/>
            <a:ext cx="10216591" cy="0"/>
          </a:xfrm>
          <a:prstGeom prst="line">
            <a:avLst/>
          </a:prstGeom>
          <a:noFill/>
          <a:ln w="12700">
            <a:solidFill>
              <a:srgbClr val="4A463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78992" y="2157984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2157984"/>
            <a:ext cx="95399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연결 버튼으로 실습 폴더 선택 후 권한 허용   </a:t>
            </a:r>
            <a:r>
              <a:rPr 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에이전트의 접근 </a:t>
            </a:r>
            <a:r>
              <a:rPr lang="en-US" sz="125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범위는</a:t>
            </a:r>
            <a:r>
              <a:rPr 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</a:t>
            </a:r>
            <a:r>
              <a:rPr lang="ko-KR" alt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</a:t>
            </a:r>
            <a:r>
              <a:rPr 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폴더로 한정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224632" y="5879592"/>
            <a:ext cx="5742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26년 8월 화면 </a:t>
            </a:r>
            <a:r>
              <a:rPr lang="en-US" sz="950" dirty="0" err="1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r>
              <a:rPr lang="en-US" sz="9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95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FAA5DA7-69DF-991F-B685-14963CC66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76" y="2813659"/>
            <a:ext cx="7735380" cy="291505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1BE1525-8A0E-FB12-5EDC-6A400B721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4404" y="3182112"/>
            <a:ext cx="3496163" cy="22005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1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· 실습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947672" y="617220"/>
            <a:ext cx="9421063" cy="10058"/>
          </a:xfrm>
          <a:prstGeom prst="rect">
            <a:avLst/>
          </a:prstGeom>
          <a:solidFill>
            <a:srgbClr val="4A463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프롬프트 입력 — 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목표만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방법은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Cowork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선택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536192"/>
            <a:ext cx="10545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프롬프트를 그대로 복사해 Cowork 입력창에 붙여넣기 — 방법과 절차는 Cowork가 스스로 결정 후 실행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0545775" cy="29718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03120"/>
            <a:ext cx="50292" cy="297180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231136"/>
            <a:ext cx="99971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(COWORK 입력창에 붙여넣기)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97280" y="2487168"/>
            <a:ext cx="9997135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'1교시_샘플보고서.pdf' 파일을 읽고, 아래 내용을 담은 한글 워드(.docx) 파일 한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개로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폴더에 저장해줘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1쪽 분량의 핵심 요약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문서에 들어 있는 표와 그림의 목록 (각각 무슨 내용인지 한 줄씩)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확인되지 않은 내용은 지어내지 말고, 모르면 모른다고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표시해줘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실습이니까 우측 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‘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진행 상황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‘ 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패널에 너가 작업한 진행 상황을 표기해줘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1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실습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947672" y="617220"/>
            <a:ext cx="9421063" cy="10058"/>
          </a:xfrm>
          <a:prstGeom prst="rect">
            <a:avLst/>
          </a:prstGeom>
          <a:solidFill>
            <a:srgbClr val="4A463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권한 요청 시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에서는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허용, 실무는 신중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41248" y="4495800"/>
            <a:ext cx="82296" cy="822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4285488"/>
            <a:ext cx="102531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 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월까지는 작업하는 중간에 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만든 부산물 파일 삭제 시에도 삭제 권한 요청했음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 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기준 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만든 부산물 파일은 삭제 권한 요청 없이 알아서 삭제하는 듯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나중에 다시 권한 요청할 수 있으니 참고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" y="2359152"/>
            <a:ext cx="82296" cy="822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148840"/>
            <a:ext cx="102531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실무에서는 삭제 권한 부여에 항상 주의 필요 — </a:t>
            </a: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휴지통 이동이 아닌 영구 삭제 방식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41248" y="3072384"/>
            <a:ext cx="82296" cy="822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2862072"/>
            <a:ext cx="102531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지시를 확대 해석해 예상 밖의 파일을 삭제하는 사례 존재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3785616"/>
            <a:ext cx="82296" cy="822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3575304"/>
            <a:ext cx="102531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불안할 경우 중요 파일과 분리된 독립 폴더에서만 삭제 권한 허용 — 삭제는 매번 권한 요청 창 표시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1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· 실습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947672" y="617220"/>
            <a:ext cx="9421063" cy="10058"/>
          </a:xfrm>
          <a:prstGeom prst="rect">
            <a:avLst/>
          </a:prstGeom>
          <a:solidFill>
            <a:srgbClr val="4A463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확인 — 폴더에 직접 저장된 .docx 열기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41248" y="1879092"/>
            <a:ext cx="82296" cy="822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1691640"/>
            <a:ext cx="10253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기능과 다르게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디렉토리에 ‘파일’로 직접 저장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" y="2446020"/>
            <a:ext cx="82296" cy="822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258568"/>
            <a:ext cx="10253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저장된 .docx를 열어 핵심 요약과 표·그림 목록 확인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16072" y="2843784"/>
            <a:ext cx="5559552" cy="3108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8EA0882-5E7B-F76C-E5AB-85EF2C51C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526" y="2883594"/>
            <a:ext cx="7468642" cy="280074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488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5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684368" y="2761488"/>
            <a:ext cx="822960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0175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</a:t>
            </a:r>
            <a:r>
              <a:rPr lang="en-US" sz="3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r>
              <a:rPr lang="ko-KR" altLang="en-US" sz="3400" b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</a:t>
            </a:r>
            <a:r>
              <a:rPr lang="en-US" sz="3400" b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COWORK</a:t>
            </a:r>
            <a:r>
              <a:rPr lang="ko-KR" altLang="en-US" sz="3400" b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3400" b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에이전트인 이유</a:t>
            </a:r>
            <a:endParaRPr lang="en-US" sz="3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· 동작 원리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350008" y="617220"/>
            <a:ext cx="9018727" cy="10058"/>
          </a:xfrm>
          <a:prstGeom prst="rect">
            <a:avLst/>
          </a:prstGeom>
          <a:solidFill>
            <a:srgbClr val="4A463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→ 계획 → 행동 → 관찰 루프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2389556" cy="2377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2389556" cy="32004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12848"/>
            <a:ext cx="20237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PERCEIVE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05840" y="2487168"/>
            <a:ext cx="2023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05840" y="3063240"/>
            <a:ext cx="20237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환경과 자료를 읽어 현재 상태 파악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12516" y="1965960"/>
            <a:ext cx="329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41700" y="1965960"/>
            <a:ext cx="2389556" cy="2377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1700" y="1965960"/>
            <a:ext cx="2389556" cy="32004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3" name="Text 11"/>
          <p:cNvSpPr/>
          <p:nvPr/>
        </p:nvSpPr>
        <p:spPr>
          <a:xfrm>
            <a:off x="3724580" y="2212848"/>
            <a:ext cx="20237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724580" y="2487168"/>
            <a:ext cx="2023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724580" y="3063240"/>
            <a:ext cx="20237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목표를 하위 작업으로 분해하고 순서 결정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31256" y="1965960"/>
            <a:ext cx="329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60440" y="1965960"/>
            <a:ext cx="2389556" cy="2377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0440" y="1965960"/>
            <a:ext cx="2389556" cy="32004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9" name="Text 17"/>
          <p:cNvSpPr/>
          <p:nvPr/>
        </p:nvSpPr>
        <p:spPr>
          <a:xfrm>
            <a:off x="6443320" y="2212848"/>
            <a:ext cx="20237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43320" y="2487168"/>
            <a:ext cx="2023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443320" y="3063240"/>
            <a:ext cx="20237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골라 실행하고 산출물 생성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49995" y="1965960"/>
            <a:ext cx="329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79179" y="1965960"/>
            <a:ext cx="2389556" cy="2377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79179" y="1965960"/>
            <a:ext cx="2389556" cy="32004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25" name="Text 23"/>
          <p:cNvSpPr/>
          <p:nvPr/>
        </p:nvSpPr>
        <p:spPr>
          <a:xfrm>
            <a:off x="9162059" y="2212848"/>
            <a:ext cx="20237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162059" y="2487168"/>
            <a:ext cx="2023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162059" y="3063240"/>
            <a:ext cx="20237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확인하고 다음 행동 조정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2960" y="4800600"/>
            <a:ext cx="10545775" cy="56692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80060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단계가 끊임없이 </a:t>
            </a:r>
            <a:r>
              <a:rPr lang="en-US" sz="13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반복(loop)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되며 하나의 목표를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끝까지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· </a:t>
            </a:r>
            <a:r>
              <a:rPr lang="en-US" sz="1050" b="1" kern="0" spc="2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350008" y="617220"/>
            <a:ext cx="9018727" cy="10058"/>
          </a:xfrm>
          <a:prstGeom prst="rect">
            <a:avLst/>
          </a:prstGeom>
          <a:solidFill>
            <a:srgbClr val="4A463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Cowork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‘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223760" y="1737360"/>
            <a:ext cx="310896" cy="3108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9" name="Text 6"/>
          <p:cNvSpPr/>
          <p:nvPr/>
        </p:nvSpPr>
        <p:spPr>
          <a:xfrm>
            <a:off x="7223760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662672" y="1719072"/>
            <a:ext cx="37060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상황 패널 → 계획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662672" y="2011680"/>
            <a:ext cx="3706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작업을 스스로 분해하고 점검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223760" y="2615184"/>
            <a:ext cx="310896" cy="3108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3" name="Text 10"/>
          <p:cNvSpPr/>
          <p:nvPr/>
        </p:nvSpPr>
        <p:spPr>
          <a:xfrm>
            <a:off x="7223760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662672" y="2596896"/>
            <a:ext cx="37060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폴더·PDF 접근 → 인지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662672" y="2889504"/>
            <a:ext cx="3706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파일 시스템을 직접 판독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223760" y="3493008"/>
            <a:ext cx="310896" cy="3108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7" name="Text 14"/>
          <p:cNvSpPr/>
          <p:nvPr/>
        </p:nvSpPr>
        <p:spPr>
          <a:xfrm>
            <a:off x="7223760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662672" y="3474720"/>
            <a:ext cx="37060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</a:t>
            </a:r>
            <a:r>
              <a:rPr lang="en-US" altLang="ko-KR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r>
              <a:rPr lang="ko-KR" alt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실행함</a:t>
            </a:r>
            <a:r>
              <a:rPr lang="en-US" altLang="ko-KR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4</a:t>
            </a:r>
            <a:r>
              <a:rPr lang="ko-KR" alt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파일 읽음</a:t>
            </a:r>
            <a:r>
              <a:rPr lang="en-US" altLang="ko-KR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 </a:t>
            </a:r>
            <a:r>
              <a:rPr 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행동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662672" y="3767328"/>
            <a:ext cx="3706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선택과 코드 실행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223760" y="4370832"/>
            <a:ext cx="310896" cy="3108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21" name="Text 18"/>
          <p:cNvSpPr/>
          <p:nvPr/>
        </p:nvSpPr>
        <p:spPr>
          <a:xfrm>
            <a:off x="7223760" y="4370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662672" y="4352544"/>
            <a:ext cx="37060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위치 확인 질문 → 관찰</a:t>
            </a:r>
            <a:r>
              <a:rPr lang="en-US" altLang="ko-KR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적응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662672" y="4645152"/>
            <a:ext cx="3706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ko-KR" sz="10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0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생성된 워드 파일을 원본 </a:t>
            </a:r>
            <a:r>
              <a:rPr lang="en-US" altLang="ko-KR" sz="10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</a:t>
            </a:r>
            <a:r>
              <a:rPr lang="ko-KR" altLang="en-US" sz="10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같은 폴더에도 저장할까요</a:t>
            </a:r>
            <a:r>
              <a:rPr lang="en-US" altLang="ko-KR" sz="10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?”</a:t>
            </a:r>
          </a:p>
          <a:p>
            <a:pPr marL="0" indent="0">
              <a:buNone/>
            </a:pPr>
            <a:r>
              <a:rPr lang="ko-KR" altLang="en-US" sz="10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</a:rPr>
              <a:t>내 답변에 따라 </a:t>
            </a:r>
            <a:r>
              <a:rPr lang="en-US" altLang="ko-KR" sz="10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</a:rPr>
              <a:t>Agent</a:t>
            </a:r>
            <a:r>
              <a:rPr lang="ko-KR" altLang="en-US" sz="10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</a:rPr>
              <a:t>가 다르게 행동함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223760" y="5486400"/>
            <a:ext cx="310896" cy="3108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25" name="Text 22"/>
          <p:cNvSpPr/>
          <p:nvPr/>
        </p:nvSpPr>
        <p:spPr>
          <a:xfrm>
            <a:off x="7223760" y="5486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662672" y="5468112"/>
            <a:ext cx="37060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.docx 출력 → 환경 반영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662672" y="5760720"/>
            <a:ext cx="3706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산출물을 폴더에 직접 저장</a:t>
            </a:r>
            <a:endParaRPr lang="en-US" sz="1050" dirty="0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43F97726-45BF-05D4-CCC7-55AEDC80A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3" y="1714330"/>
            <a:ext cx="6101929" cy="315027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1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· 계획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947672" y="617220"/>
            <a:ext cx="9421063" cy="10058"/>
          </a:xfrm>
          <a:prstGeom prst="rect">
            <a:avLst/>
          </a:prstGeom>
          <a:solidFill>
            <a:srgbClr val="4A463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한 줄이 ‘작업 목록’으로 분해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41248" y="1924812"/>
            <a:ext cx="82296" cy="822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1737360"/>
            <a:ext cx="10253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지시 없이 </a:t>
            </a: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“docx </a:t>
            </a:r>
            <a:r>
              <a:rPr lang="ko-KR" alt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요약본 </a:t>
            </a:r>
            <a:r>
              <a:rPr lang="en-US" sz="13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생성”이라는</a:t>
            </a: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목표만</a:t>
            </a: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" y="2519172"/>
            <a:ext cx="82296" cy="822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331720"/>
            <a:ext cx="10253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그럼에도 스스로 계획을 수립하고 진행 상황을 점검하며 작업 진행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956152" y="5193792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r>
              <a:rPr lang="ko-KR" altLang="en-US" sz="9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 </a:t>
            </a:r>
            <a:r>
              <a:rPr lang="en-US" altLang="ko-KR" sz="9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r>
              <a:rPr lang="ko-KR" altLang="en-US" sz="9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이후로 간단한 작업은 위와 같이 진행 상황을 기재 안하기도 함</a:t>
            </a:r>
            <a:endParaRPr lang="en-US" sz="95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9CD72B6-9019-3ADC-B28E-F4B5B9105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501" y="2880360"/>
            <a:ext cx="2543530" cy="224821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1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· 행동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947672" y="617220"/>
            <a:ext cx="9421063" cy="10058"/>
          </a:xfrm>
          <a:prstGeom prst="rect">
            <a:avLst/>
          </a:prstGeom>
          <a:solidFill>
            <a:srgbClr val="4A463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작업에 필요한 스킬 선택 후 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읽고 요약</a:t>
            </a:r>
            <a:r>
              <a:rPr lang="en-US" altLang="ko-KR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뒤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.docx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</a:t>
            </a:r>
            <a:endParaRPr lang="en-US" sz="2500" dirty="0"/>
          </a:p>
        </p:txBody>
      </p:sp>
      <p:sp>
        <p:nvSpPr>
          <p:cNvPr id="20" name="Shape 18"/>
          <p:cNvSpPr/>
          <p:nvPr/>
        </p:nvSpPr>
        <p:spPr>
          <a:xfrm>
            <a:off x="786384" y="1901952"/>
            <a:ext cx="7388352" cy="70408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pic>
        <p:nvPicPr>
          <p:cNvPr id="21" name="Image 0" descr="img/image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38528"/>
            <a:ext cx="7315200" cy="63093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86384" y="2642616"/>
            <a:ext cx="7388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— PDF를 읽고 요약을 담은 .docx로 정리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786384" y="486460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‘컨텍스트 · </a:t>
            </a:r>
            <a:r>
              <a:rPr lang="en-US" sz="950" dirty="0" err="1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스킬’에</a:t>
            </a:r>
            <a:r>
              <a:rPr lang="en-US" sz="9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pdf</a:t>
            </a:r>
            <a:r>
              <a:rPr lang="ko-KR" altLang="en-US" sz="9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</a:t>
            </a:r>
            <a:r>
              <a:rPr lang="en-US" sz="9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docx 스킬 장착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4297680" y="3493008"/>
            <a:ext cx="7071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 — </a:t>
            </a: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도구를 스스로 </a:t>
            </a:r>
            <a:r>
              <a:rPr lang="en-US" sz="13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선택·제작해</a:t>
            </a: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실행하는</a:t>
            </a: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‘</a:t>
            </a:r>
            <a:r>
              <a:rPr lang="en-US" sz="13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 </a:t>
            </a:r>
            <a:r>
              <a:rPr lang="ko-KR" alt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</a:t>
            </a:r>
            <a:endParaRPr lang="en-US" sz="1300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342708F5-41AB-91B6-CA34-5D8E3A8230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054096"/>
            <a:ext cx="2943636" cy="181952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· 파일 시스템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523744" y="617220"/>
            <a:ext cx="8844991" cy="10058"/>
          </a:xfrm>
          <a:prstGeom prst="rect">
            <a:avLst/>
          </a:prstGeom>
          <a:solidFill>
            <a:srgbClr val="4A463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파일의 디렉토리 직접 저장 — 파일 시스템 제어권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87564" y="3007462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지정한 </a:t>
            </a:r>
            <a:r>
              <a:rPr lang="en-US" sz="950" dirty="0" err="1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</a:t>
            </a:r>
            <a:r>
              <a:rPr lang="en-US" sz="950" dirty="0">
                <a:solidFill>
                  <a:srgbClr val="C7C4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.docx로 직접 저장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041648" y="2345436"/>
            <a:ext cx="82296" cy="822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9" name="Text 6"/>
          <p:cNvSpPr/>
          <p:nvPr/>
        </p:nvSpPr>
        <p:spPr>
          <a:xfrm>
            <a:off x="4315968" y="2103120"/>
            <a:ext cx="7052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파일의 수동 다운로드·복사 없이 </a:t>
            </a: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폴더에 곧바로 저장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041648" y="3040380"/>
            <a:ext cx="82296" cy="822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1" name="Text 8"/>
          <p:cNvSpPr/>
          <p:nvPr/>
        </p:nvSpPr>
        <p:spPr>
          <a:xfrm>
            <a:off x="4315968" y="2798064"/>
            <a:ext cx="7052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중간 개입이 빠지므로 자동화된 워크플로우 구성이 가능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041648" y="3735324"/>
            <a:ext cx="82296" cy="82296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3" name="Text 10"/>
          <p:cNvSpPr/>
          <p:nvPr/>
        </p:nvSpPr>
        <p:spPr>
          <a:xfrm>
            <a:off x="4315968" y="3493008"/>
            <a:ext cx="7052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환경과의 직접 상호작용 — AI 에이전트의 중요 요소</a:t>
            </a:r>
            <a:endParaRPr lang="en-US" sz="13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B5C4212-4401-3C1A-D041-BB0BEAFF5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48" y="2103120"/>
            <a:ext cx="2924583" cy="70494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1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· 관찰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947672" y="617220"/>
            <a:ext cx="9421063" cy="10058"/>
          </a:xfrm>
          <a:prstGeom prst="rect">
            <a:avLst/>
          </a:prstGeom>
          <a:solidFill>
            <a:srgbClr val="4A463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지시에 따라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r>
              <a:rPr 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</a:t>
            </a:r>
            <a:r>
              <a:rPr lang="ko-KR" altLang="en-US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</a:t>
            </a:r>
            <a:r>
              <a:rPr lang="ko-KR" altLang="en-US" sz="20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（또는</a:t>
            </a:r>
            <a:r>
              <a:rPr lang="ko-KR" alt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0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ＡＩ가</a:t>
            </a:r>
            <a:r>
              <a:rPr lang="ko-KR" alt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판단한 방향으로 바로 조정）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0545775" cy="153619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6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69164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00200" y="1691640"/>
            <a:ext cx="95399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</a:t>
            </a:r>
            <a:r>
              <a:rPr lang="en-US" sz="12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Claude에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워드 파일 저장 위치를 명시적으로 지시하지 않은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상태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87552" y="2203704"/>
            <a:ext cx="10216591" cy="0"/>
          </a:xfrm>
          <a:prstGeom prst="line">
            <a:avLst/>
          </a:prstGeom>
          <a:noFill/>
          <a:ln w="12700">
            <a:solidFill>
              <a:srgbClr val="4A463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78992" y="2203704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2203704"/>
            <a:ext cx="95399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Claude가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위치를 모른다는</a:t>
            </a:r>
            <a:r>
              <a:rPr 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상황을</a:t>
            </a:r>
            <a:r>
              <a:rPr 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b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87552" y="2715768"/>
            <a:ext cx="10216591" cy="0"/>
          </a:xfrm>
          <a:prstGeom prst="line">
            <a:avLst/>
          </a:prstGeom>
          <a:noFill/>
          <a:ln w="12700">
            <a:solidFill>
              <a:srgbClr val="4A4632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078992" y="271576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2715768"/>
            <a:ext cx="95399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행동해야 할지 판단하고 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사용자에게 추가 지시</a:t>
            </a:r>
            <a:r>
              <a:rPr lang="en-US" altLang="ko-KR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요청하는 식으로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행동을 스스로 조정</a:t>
            </a:r>
            <a:endParaRPr lang="en-US" sz="125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BD6A6206-1011-B71A-867E-257ECE16D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684" y="3511296"/>
            <a:ext cx="7354326" cy="23148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1629</Words>
  <Application>Microsoft Office PowerPoint</Application>
  <PresentationFormat>와이드스크린</PresentationFormat>
  <Paragraphs>256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think</cp:lastModifiedBy>
  <cp:revision>1</cp:revision>
  <dcterms:created xsi:type="dcterms:W3CDTF">2026-08-13T05:52:06Z</dcterms:created>
  <dcterms:modified xsi:type="dcterms:W3CDTF">2026-08-17T03:46:05Z</dcterms:modified>
</cp:coreProperties>
</file>